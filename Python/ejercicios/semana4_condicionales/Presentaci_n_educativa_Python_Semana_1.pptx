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 la bienvenida. Repasar en una frase lo visto hasta ahora (variables, tipos de datos, input) y anunciar que hoy el programa por primera vez va a poder 'decidir' qué hacer según los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el índice. Remarcar que son 5 ejercicios, cada uno agregando una idea nueva sobre la anterior: primero if/else, después elif, después anidados, y por último and/or/not.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objetivos de la clase. Insistir en que la clave de hoy es que el programa deje de ejecutar siempre lo mismo y empiece a elegir un camino según los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avanzar, confirmar que el grupo recuerda variables, input() y los operadores de comparación de semanas anteriores — son la base de todo lo de hoy. Si hay dudas, repasar acá antes de seguir.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Definir condicional con una analogía cotidiana antes de mostrar código: 'si llueve, llevo paraguas; si no, no lo llevo'. El programa evalúa una condición (verdadera o falsa) y ejecuta un bloque u otro según el resultado.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la forma general antes del primer ejercicio real. Los dos puntos y la indentación (sangría) son obligatorios en Python — no son estética, son parte de la sintaxis. Un bloque mal indentado no funciona.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el código en voz alta línea por línea antes de ejecutarlo. Línea 1: se pide la edad y se convierte a entero con int(). Línea 2: se compara edad &gt;= 18. Líneas 3-4: qué se imprime en cada caso.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Ejecutar el programa dos veces en vivo: una con un valor que dé mayor de edad y otra que dé menor. Mostrar la tabla y remarcar que edad queda guardada como número entero gracias a 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Provocar estos errores en vivo si el tiempo lo permite: sacar los dos puntos y mostrar el SyntaxError; desalinear la sangría del print y mostrar el IndentationError. Que el estudiante vea el mensaje de error real ayuda mucho más que solo explicarlo.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ejercicio es casi idéntico al anterior, pero con float() en vez de int() porque una nota puede tener decimales (por ejemplo 6.5). Preguntar: '¿por qué acá usamos float y en el ejercicio 1 usamos 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elif como la respuesta a '¿y si tengo más de dos caminos posibles?'. Python evalúa las condiciones en orden, de arriba hacia abajo, y ejecuta la primera que sea verdadera; si ninguna lo es, ejecuta el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el código y remarcar el orden: primero se pregunta si numero1 &gt; numero2, si no, si numero2 &gt; numero1, y si ninguna es verdadera (son iguales) se ejecuta el else. Ejecutar con tres pares de números distintos y completar la tabla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Completar esta tabla junto al grupo después de correr el programa con cada par de valores. Remarcar que la rama que se ejecuta depende de en qué orden Python encuentra la condición verdadera.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'condicional anidado' como un if dentro de otro bloque (en este caso, dentro del else). Es otra forma de tener más de dos caminos, alternativa a elif. Preguntar: '¿en qué se parece y en qué se diferencia de elif?'.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el código de afuera hacia adentro: primero se pregunta si nota &gt;= 9 (Excelente). Si no, entramos al else, y ADENTRO de ese else hay un segundo if que pregunta si nota &gt;= 6 (Aprobado), y si tampoco, Desaprobado. Ejecutar con tres notas distintas.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la tabla de verdad antes del código. and requiere que AMBAS condiciones sean verdaderas; or alcanza con que UNA sea verdadera; not invierte el resultado. Pedir ejemplos cotidianos: 'puedo entrar al boliche si tengo entrada Y soy mayor de edad' (and).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Remarcar la línea de tiene_dni: input() devuelve texto, y al compararlo con == 'si' se obtiene directamente True o False, que queda guardado en la variable. Después el if combina edad &gt;= 16 and tiene_dni. Ejecutar con las tres combinaciones de la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Dejar que cada estudiante modifique el ejercicio 5 solo, sin dar la solución. La idea es que practiquen agregar una condición nueva combinándola con and/or, reforzando lo visto en esta clase.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desafío como integrador: combina elif (varias categorías) con un operador lógico (and) en la misma condición. Dar pistas solo si se traban, empezando por la más general.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Repasar las ideas en voz alta. Conectar con la próxima semana: ahora que el programa puede decidir, la semana que viene aprende a repetir acciones con bucles. Preguntar si quedó alguna duda antes de cerrar.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82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B2741">
                  <a:alpha val="75000"/>
                </a:srgbClr>
              </a:gs>
              <a:gs pos="58000">
                <a:srgbClr val="2B2741">
                  <a:alpha val="0"/>
                </a:srgbClr>
              </a:gs>
            </a:gsLst>
            <a:path path="circle">
              <a:fillToRect l="80000" t="0" r="20000" b="100000"/>
            </a:path>
          </a:gradFill>
          <a:ln/>
        </p:spPr>
      </p:sp>
      <p:sp>
        <p:nvSpPr>
          <p:cNvPr id="3" name="Text 1"/>
          <p:cNvSpPr/>
          <p:nvPr/>
        </p:nvSpPr>
        <p:spPr>
          <a:xfrm>
            <a:off x="1143000" y="748010"/>
            <a:ext cx="2974300" cy="204490"/>
          </a:xfrm>
          <a:prstGeom prst="rect">
            <a:avLst/>
          </a:prstGeom>
          <a:noFill/>
          <a:ln/>
        </p:spPr>
        <p:txBody>
          <a:bodyPr wrap="square" lIns="25400" tIns="25400" rIns="25400" bIns="25400" rtlCol="0" anchor="t">
            <a:normAutofit/>
          </a:bodyPr>
          <a:lstStyle/>
          <a:p>
            <a:pPr algn="l" indent="0" marL="0">
              <a:lnSpc>
                <a:spcPct val="132857"/>
              </a:lnSpc>
              <a:buNone/>
            </a:pPr>
            <a:r>
              <a:rPr lang="en-US" sz="1800" spc="108" kern="0" dirty="0">
                <a:solidFill>
                  <a:srgbClr val="9184D9"/>
                </a:solidFill>
                <a:latin typeface="Arial" pitchFamily="34" charset="0"/>
                <a:ea typeface="Arial" pitchFamily="34" charset="-122"/>
                <a:cs typeface="Arial" pitchFamily="34" charset="-120"/>
              </a:rPr>
              <a:t>PYTHON DESDE CERO</a:t>
            </a:r>
            <a:endParaRPr lang="en-US" sz="1800" dirty="0"/>
          </a:p>
        </p:txBody>
      </p:sp>
      <p:sp>
        <p:nvSpPr>
          <p:cNvPr id="4" name="Text 2"/>
          <p:cNvSpPr/>
          <p:nvPr/>
        </p:nvSpPr>
        <p:spPr>
          <a:xfrm>
            <a:off x="1076771" y="3981450"/>
            <a:ext cx="17675051" cy="1181100"/>
          </a:xfrm>
          <a:prstGeom prst="rect">
            <a:avLst/>
          </a:prstGeom>
          <a:noFill/>
          <a:ln/>
        </p:spPr>
        <p:txBody>
          <a:bodyPr wrap="square" lIns="25400" tIns="25400" rIns="25400" bIns="25400" rtlCol="0" anchor="t">
            <a:normAutofit/>
          </a:bodyPr>
          <a:lstStyle/>
          <a:p>
            <a:pPr algn="l" indent="0" marL="0">
              <a:lnSpc>
                <a:spcPct val="89552"/>
              </a:lnSpc>
              <a:buNone/>
            </a:pPr>
            <a:r>
              <a:rPr lang="en-US" sz="8700" spc="-174" kern="0" dirty="0">
                <a:solidFill>
                  <a:srgbClr val="E9E9ED"/>
                </a:solidFill>
                <a:latin typeface="Arial" pitchFamily="34" charset="0"/>
                <a:ea typeface="Arial" pitchFamily="34" charset="-122"/>
                <a:cs typeface="Arial" pitchFamily="34" charset="-120"/>
              </a:rPr>
              <a:t>Semana 4</a:t>
            </a:r>
            <a:endParaRPr lang="en-US" sz="8700" dirty="0"/>
          </a:p>
        </p:txBody>
      </p:sp>
      <p:sp>
        <p:nvSpPr>
          <p:cNvPr id="5" name="Text 3"/>
          <p:cNvSpPr/>
          <p:nvPr/>
        </p:nvSpPr>
        <p:spPr>
          <a:xfrm>
            <a:off x="1143000" y="5467350"/>
            <a:ext cx="8417317" cy="952500"/>
          </a:xfrm>
          <a:prstGeom prst="rect">
            <a:avLst/>
          </a:prstGeom>
          <a:noFill/>
          <a:ln/>
        </p:spPr>
        <p:txBody>
          <a:bodyPr wrap="square" lIns="25400" tIns="25400" rIns="25400" bIns="25400" rtlCol="0" anchor="t">
            <a:normAutofit/>
          </a:bodyPr>
          <a:lstStyle/>
          <a:p>
            <a:pPr algn="l" indent="0" marL="0">
              <a:lnSpc>
                <a:spcPct val="106667"/>
              </a:lnSpc>
              <a:buNone/>
            </a:pPr>
            <a:r>
              <a:rPr lang="en-US" sz="3000" dirty="0">
                <a:solidFill>
                  <a:srgbClr val="E9E9ED">
                    <a:alpha val="55000"/>
                  </a:srgbClr>
                </a:solidFill>
                <a:latin typeface="Arial" pitchFamily="34" charset="0"/>
                <a:ea typeface="Arial" pitchFamily="34" charset="-122"/>
                <a:cs typeface="Arial" pitchFamily="34" charset="-120"/>
              </a:rPr>
              <a:t>Condicionales: if, elif, else y los operadores and / or / not.</a:t>
            </a:r>
            <a:endParaRPr lang="en-US" sz="3000" dirty="0"/>
          </a:p>
        </p:txBody>
      </p:sp>
      <p:sp>
        <p:nvSpPr>
          <p:cNvPr id="6" name="Text 4"/>
          <p:cNvSpPr/>
          <p:nvPr/>
        </p:nvSpPr>
        <p:spPr>
          <a:xfrm>
            <a:off x="1143000" y="9206210"/>
            <a:ext cx="1663958" cy="204490"/>
          </a:xfrm>
          <a:prstGeom prst="rect">
            <a:avLst/>
          </a:prstGeom>
          <a:noFill/>
          <a:ln/>
        </p:spPr>
        <p:txBody>
          <a:bodyPr wrap="square" lIns="25400" tIns="25400" rIns="25400" bIns="25400" rtlCol="0" anchor="t">
            <a:normAutofit/>
          </a:bodyPr>
          <a:lstStyle/>
          <a:p>
            <a:pPr algn="l" indent="0" marL="0">
              <a:lnSpc>
                <a:spcPct val="132857"/>
              </a:lnSpc>
              <a:buNone/>
            </a:pPr>
            <a:r>
              <a:rPr lang="en-US" sz="1800" dirty="0">
                <a:solidFill>
                  <a:srgbClr val="E9E9ED">
                    <a:alpha val="55000"/>
                  </a:srgbClr>
                </a:solidFill>
                <a:latin typeface="Arial" pitchFamily="34" charset="0"/>
                <a:ea typeface="Arial" pitchFamily="34" charset="-122"/>
                <a:cs typeface="Arial" pitchFamily="34" charset="-120"/>
              </a:rPr>
              <a:t>FaboSistemas</a:t>
            </a:r>
            <a:endParaRPr lang="en-US" sz="1800" dirty="0"/>
          </a:p>
        </p:txBody>
      </p:sp>
      <p:sp>
        <p:nvSpPr>
          <p:cNvPr id="7" name="Text 5"/>
          <p:cNvSpPr/>
          <p:nvPr/>
        </p:nvSpPr>
        <p:spPr>
          <a:xfrm>
            <a:off x="2827139" y="9206210"/>
            <a:ext cx="142131" cy="204490"/>
          </a:xfrm>
          <a:prstGeom prst="rect">
            <a:avLst/>
          </a:prstGeom>
          <a:noFill/>
          <a:ln/>
        </p:spPr>
        <p:txBody>
          <a:bodyPr wrap="square" lIns="25400" tIns="25400" rIns="25400" bIns="25400" rtlCol="0" anchor="t">
            <a:normAutofit/>
          </a:bodyPr>
          <a:lstStyle/>
          <a:p>
            <a:pPr algn="l" indent="0" marL="0">
              <a:lnSpc>
                <a:spcPct val="132857"/>
              </a:lnSpc>
              <a:buNone/>
            </a:pPr>
            <a:r>
              <a:rPr lang="en-US" sz="1800" dirty="0">
                <a:solidFill>
                  <a:srgbClr val="E9E9ED">
                    <a:alpha val="55000"/>
                  </a:srgbClr>
                </a:solidFill>
                <a:latin typeface="Arial" pitchFamily="34" charset="0"/>
                <a:ea typeface="Arial" pitchFamily="34" charset="-122"/>
                <a:cs typeface="Arial" pitchFamily="34" charset="-120"/>
              </a:rPr>
              <a:t>·</a:t>
            </a:r>
            <a:endParaRPr lang="en-US" sz="1800" dirty="0"/>
          </a:p>
        </p:txBody>
      </p:sp>
      <p:sp>
        <p:nvSpPr>
          <p:cNvPr id="8" name="Text 6"/>
          <p:cNvSpPr/>
          <p:nvPr/>
        </p:nvSpPr>
        <p:spPr>
          <a:xfrm>
            <a:off x="3064520" y="9206210"/>
            <a:ext cx="1892007" cy="204490"/>
          </a:xfrm>
          <a:prstGeom prst="rect">
            <a:avLst/>
          </a:prstGeom>
          <a:noFill/>
          <a:ln/>
        </p:spPr>
        <p:txBody>
          <a:bodyPr wrap="square" lIns="25400" tIns="25400" rIns="25400" bIns="25400" rtlCol="0" anchor="t">
            <a:normAutofit/>
          </a:bodyPr>
          <a:lstStyle/>
          <a:p>
            <a:pPr algn="l" indent="0" marL="0">
              <a:lnSpc>
                <a:spcPct val="132857"/>
              </a:lnSpc>
              <a:buNone/>
            </a:pPr>
            <a:r>
              <a:rPr lang="en-US" sz="1800" dirty="0">
                <a:solidFill>
                  <a:srgbClr val="E9E9ED">
                    <a:alpha val="55000"/>
                  </a:srgbClr>
                </a:solidFill>
                <a:latin typeface="Arial" pitchFamily="34" charset="0"/>
                <a:ea typeface="Arial" pitchFamily="34" charset="-122"/>
                <a:cs typeface="Arial" pitchFamily="34" charset="-120"/>
              </a:rPr>
              <a:t>Semana 4 de 13</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82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B2741">
                  <a:alpha val="75000"/>
                </a:srgbClr>
              </a:gs>
              <a:gs pos="58000">
                <a:srgbClr val="2B2741">
                  <a:alpha val="0"/>
                </a:srgbClr>
              </a:gs>
            </a:gsLst>
            <a:path path="circle">
              <a:fillToRect l="80000" t="0" r="20000" b="100000"/>
            </a:path>
          </a:gradFill>
          <a:ln/>
        </p:spPr>
      </p:sp>
      <p:sp>
        <p:nvSpPr>
          <p:cNvPr id="3" name="Text 1"/>
          <p:cNvSpPr/>
          <p:nvPr/>
        </p:nvSpPr>
        <p:spPr>
          <a:xfrm>
            <a:off x="1106537" y="1842492"/>
            <a:ext cx="17642309" cy="481608"/>
          </a:xfrm>
          <a:prstGeom prst="rect">
            <a:avLst/>
          </a:prstGeom>
          <a:noFill/>
          <a:ln/>
        </p:spPr>
        <p:txBody>
          <a:bodyPr wrap="square" lIns="25400" tIns="25400" rIns="25400" bIns="25400" rtlCol="0" anchor="t">
            <a:normAutofit/>
          </a:bodyPr>
          <a:lstStyle/>
          <a:p>
            <a:pPr algn="l" indent="0" marL="0">
              <a:lnSpc>
                <a:spcPct val="97297"/>
              </a:lnSpc>
              <a:buNone/>
            </a:pPr>
            <a:r>
              <a:rPr lang="en-US" sz="4800" spc="-72" kern="0" dirty="0">
                <a:solidFill>
                  <a:srgbClr val="E9E9ED"/>
                </a:solidFill>
                <a:latin typeface="Arial" pitchFamily="34" charset="0"/>
                <a:ea typeface="Arial" pitchFamily="34" charset="-122"/>
                <a:cs typeface="Arial" pitchFamily="34" charset="-120"/>
              </a:rPr>
              <a:t>Contenidos</a:t>
            </a:r>
            <a:endParaRPr lang="en-US" sz="4800" dirty="0"/>
          </a:p>
        </p:txBody>
      </p:sp>
      <p:sp>
        <p:nvSpPr>
          <p:cNvPr id="4" name="Shape 2"/>
          <p:cNvSpPr/>
          <p:nvPr/>
        </p:nvSpPr>
        <p:spPr>
          <a:xfrm>
            <a:off x="1143000" y="3190875"/>
            <a:ext cx="9906000" cy="1380976"/>
          </a:xfrm>
          <a:prstGeom prst="rect">
            <a:avLst/>
          </a:prstGeom>
          <a:gradFill rotWithShape="1">
            <a:gsLst>
              <a:gs pos="0">
                <a:srgbClr val="E6E6EC">
                  <a:alpha val="0"/>
                </a:srgbClr>
              </a:gs>
              <a:gs pos="50000">
                <a:srgbClr val="E6E6EC">
                  <a:alpha val="16000"/>
                </a:srgbClr>
              </a:gs>
              <a:gs pos="100000">
                <a:srgbClr val="E6E6EC">
                  <a:alpha val="16000"/>
                </a:srgbClr>
              </a:gs>
              <a:gs pos="100000">
                <a:srgbClr val="E6E6EC">
                  <a:alpha val="0"/>
                </a:srgbClr>
              </a:gs>
            </a:gsLst>
            <a:lin ang="0" scaled="0"/>
          </a:gradFill>
          <a:ln/>
        </p:spPr>
      </p:sp>
      <p:sp>
        <p:nvSpPr>
          <p:cNvPr id="5" name="Text 3"/>
          <p:cNvSpPr/>
          <p:nvPr/>
        </p:nvSpPr>
        <p:spPr>
          <a:xfrm>
            <a:off x="1143000" y="3853607"/>
            <a:ext cx="372666" cy="204490"/>
          </a:xfrm>
          <a:prstGeom prst="rect">
            <a:avLst/>
          </a:prstGeom>
          <a:noFill/>
          <a:ln/>
        </p:spPr>
        <p:txBody>
          <a:bodyPr wrap="square" lIns="25400" tIns="25400" rIns="25400" bIns="25400" rtlCol="0" anchor="t">
            <a:normAutofit/>
          </a:bodyPr>
          <a:lstStyle/>
          <a:p>
            <a:pPr algn="l" indent="0" marL="0">
              <a:lnSpc>
                <a:spcPct val="132857"/>
              </a:lnSpc>
              <a:buNone/>
            </a:pPr>
            <a:r>
              <a:rPr lang="en-US" sz="1800" dirty="0">
                <a:solidFill>
                  <a:srgbClr val="9184D9"/>
                </a:solidFill>
                <a:latin typeface="Arial" pitchFamily="34" charset="0"/>
                <a:ea typeface="Arial" pitchFamily="34" charset="-122"/>
                <a:cs typeface="Arial" pitchFamily="34" charset="-120"/>
              </a:rPr>
              <a:t>01</a:t>
            </a:r>
            <a:endParaRPr lang="en-US" sz="1800" dirty="0"/>
          </a:p>
        </p:txBody>
      </p:sp>
      <p:sp>
        <p:nvSpPr>
          <p:cNvPr id="6" name="Text 4"/>
          <p:cNvSpPr/>
          <p:nvPr/>
        </p:nvSpPr>
        <p:spPr>
          <a:xfrm>
            <a:off x="1896666" y="3742730"/>
            <a:ext cx="3696429" cy="315367"/>
          </a:xfrm>
          <a:prstGeom prst="rect">
            <a:avLst/>
          </a:prstGeom>
          <a:noFill/>
          <a:ln/>
        </p:spPr>
        <p:txBody>
          <a:bodyPr wrap="square" lIns="25400" tIns="25400" rIns="25400" bIns="25400" rtlCol="0" anchor="t">
            <a:normAutofit/>
          </a:bodyPr>
          <a:lstStyle/>
          <a:p>
            <a:pPr algn="l" indent="0" marL="0">
              <a:lnSpc>
                <a:spcPct val="137778"/>
              </a:lnSpc>
              <a:buNone/>
            </a:pPr>
            <a:r>
              <a:rPr lang="en-US" sz="3000" dirty="0">
                <a:solidFill>
                  <a:srgbClr val="E9E9ED"/>
                </a:solidFill>
                <a:latin typeface="Arial" pitchFamily="34" charset="0"/>
                <a:ea typeface="Arial" pitchFamily="34" charset="-122"/>
                <a:cs typeface="Arial" pitchFamily="34" charset="-120"/>
              </a:rPr>
              <a:t>Objetivos y repaso</a:t>
            </a:r>
            <a:endParaRPr lang="en-US" sz="3000" dirty="0"/>
          </a:p>
        </p:txBody>
      </p:sp>
      <p:sp>
        <p:nvSpPr>
          <p:cNvPr id="7" name="Shape 5"/>
          <p:cNvSpPr/>
          <p:nvPr/>
        </p:nvSpPr>
        <p:spPr>
          <a:xfrm>
            <a:off x="1143000" y="4571851"/>
            <a:ext cx="9906000" cy="1371451"/>
          </a:xfrm>
          <a:prstGeom prst="rect">
            <a:avLst/>
          </a:prstGeom>
          <a:gradFill rotWithShape="1">
            <a:gsLst>
              <a:gs pos="0">
                <a:srgbClr val="E6E6EC">
                  <a:alpha val="0"/>
                </a:srgbClr>
              </a:gs>
              <a:gs pos="50000">
                <a:srgbClr val="E6E6EC">
                  <a:alpha val="16000"/>
                </a:srgbClr>
              </a:gs>
              <a:gs pos="100000">
                <a:srgbClr val="E6E6EC">
                  <a:alpha val="16000"/>
                </a:srgbClr>
              </a:gs>
              <a:gs pos="100000">
                <a:srgbClr val="E6E6EC">
                  <a:alpha val="0"/>
                </a:srgbClr>
              </a:gs>
            </a:gsLst>
            <a:lin ang="0" scaled="0"/>
          </a:gradFill>
          <a:ln/>
        </p:spPr>
      </p:sp>
      <p:sp>
        <p:nvSpPr>
          <p:cNvPr id="8" name="Text 6"/>
          <p:cNvSpPr/>
          <p:nvPr/>
        </p:nvSpPr>
        <p:spPr>
          <a:xfrm>
            <a:off x="1143000" y="5225058"/>
            <a:ext cx="372666" cy="204490"/>
          </a:xfrm>
          <a:prstGeom prst="rect">
            <a:avLst/>
          </a:prstGeom>
          <a:noFill/>
          <a:ln/>
        </p:spPr>
        <p:txBody>
          <a:bodyPr wrap="square" lIns="25400" tIns="25400" rIns="25400" bIns="25400" rtlCol="0" anchor="t">
            <a:normAutofit/>
          </a:bodyPr>
          <a:lstStyle/>
          <a:p>
            <a:pPr algn="l" indent="0" marL="0">
              <a:lnSpc>
                <a:spcPct val="132857"/>
              </a:lnSpc>
              <a:buNone/>
            </a:pPr>
            <a:r>
              <a:rPr lang="en-US" sz="1800" dirty="0">
                <a:solidFill>
                  <a:srgbClr val="9184D9"/>
                </a:solidFill>
                <a:latin typeface="Arial" pitchFamily="34" charset="0"/>
                <a:ea typeface="Arial" pitchFamily="34" charset="-122"/>
                <a:cs typeface="Arial" pitchFamily="34" charset="-120"/>
              </a:rPr>
              <a:t>02</a:t>
            </a:r>
            <a:endParaRPr lang="en-US" sz="1800" dirty="0"/>
          </a:p>
        </p:txBody>
      </p:sp>
      <p:sp>
        <p:nvSpPr>
          <p:cNvPr id="9" name="Text 7"/>
          <p:cNvSpPr/>
          <p:nvPr/>
        </p:nvSpPr>
        <p:spPr>
          <a:xfrm>
            <a:off x="1896666" y="5114181"/>
            <a:ext cx="4729445" cy="315367"/>
          </a:xfrm>
          <a:prstGeom prst="rect">
            <a:avLst/>
          </a:prstGeom>
          <a:noFill/>
          <a:ln/>
        </p:spPr>
        <p:txBody>
          <a:bodyPr wrap="square" lIns="25400" tIns="25400" rIns="25400" bIns="25400" rtlCol="0" anchor="t">
            <a:normAutofit/>
          </a:bodyPr>
          <a:lstStyle/>
          <a:p>
            <a:pPr algn="l" indent="0" marL="0">
              <a:lnSpc>
                <a:spcPct val="137778"/>
              </a:lnSpc>
              <a:buNone/>
            </a:pPr>
            <a:r>
              <a:rPr lang="en-US" sz="3000" dirty="0">
                <a:solidFill>
                  <a:srgbClr val="E9E9ED"/>
                </a:solidFill>
                <a:latin typeface="Arial" pitchFamily="34" charset="0"/>
                <a:ea typeface="Arial" pitchFamily="34" charset="-122"/>
                <a:cs typeface="Arial" pitchFamily="34" charset="-120"/>
              </a:rPr>
              <a:t>if / else · Ejercicios 1 y 2</a:t>
            </a:r>
            <a:endParaRPr lang="en-US" sz="3000" dirty="0"/>
          </a:p>
        </p:txBody>
      </p:sp>
      <p:sp>
        <p:nvSpPr>
          <p:cNvPr id="10" name="Shape 8"/>
          <p:cNvSpPr/>
          <p:nvPr/>
        </p:nvSpPr>
        <p:spPr>
          <a:xfrm>
            <a:off x="1143000" y="5943302"/>
            <a:ext cx="9906000" cy="1371451"/>
          </a:xfrm>
          <a:prstGeom prst="rect">
            <a:avLst/>
          </a:prstGeom>
          <a:gradFill rotWithShape="1">
            <a:gsLst>
              <a:gs pos="0">
                <a:srgbClr val="E6E6EC">
                  <a:alpha val="0"/>
                </a:srgbClr>
              </a:gs>
              <a:gs pos="50000">
                <a:srgbClr val="E6E6EC">
                  <a:alpha val="16000"/>
                </a:srgbClr>
              </a:gs>
              <a:gs pos="100000">
                <a:srgbClr val="E6E6EC">
                  <a:alpha val="16000"/>
                </a:srgbClr>
              </a:gs>
              <a:gs pos="100000">
                <a:srgbClr val="E6E6EC">
                  <a:alpha val="0"/>
                </a:srgbClr>
              </a:gs>
            </a:gsLst>
            <a:lin ang="0" scaled="0"/>
          </a:gradFill>
          <a:ln/>
        </p:spPr>
      </p:sp>
      <p:sp>
        <p:nvSpPr>
          <p:cNvPr id="11" name="Text 9"/>
          <p:cNvSpPr/>
          <p:nvPr/>
        </p:nvSpPr>
        <p:spPr>
          <a:xfrm>
            <a:off x="1143000" y="6596509"/>
            <a:ext cx="372666" cy="204490"/>
          </a:xfrm>
          <a:prstGeom prst="rect">
            <a:avLst/>
          </a:prstGeom>
          <a:noFill/>
          <a:ln/>
        </p:spPr>
        <p:txBody>
          <a:bodyPr wrap="square" lIns="25400" tIns="25400" rIns="25400" bIns="25400" rtlCol="0" anchor="t">
            <a:normAutofit/>
          </a:bodyPr>
          <a:lstStyle/>
          <a:p>
            <a:pPr algn="l" indent="0" marL="0">
              <a:lnSpc>
                <a:spcPct val="132857"/>
              </a:lnSpc>
              <a:buNone/>
            </a:pPr>
            <a:r>
              <a:rPr lang="en-US" sz="1800" dirty="0">
                <a:solidFill>
                  <a:srgbClr val="9184D9"/>
                </a:solidFill>
                <a:latin typeface="Arial" pitchFamily="34" charset="0"/>
                <a:ea typeface="Arial" pitchFamily="34" charset="-122"/>
                <a:cs typeface="Arial" pitchFamily="34" charset="-120"/>
              </a:rPr>
              <a:t>03</a:t>
            </a:r>
            <a:endParaRPr lang="en-US" sz="1800" dirty="0"/>
          </a:p>
        </p:txBody>
      </p:sp>
      <p:sp>
        <p:nvSpPr>
          <p:cNvPr id="12" name="Text 10"/>
          <p:cNvSpPr/>
          <p:nvPr/>
        </p:nvSpPr>
        <p:spPr>
          <a:xfrm>
            <a:off x="1896666" y="6485632"/>
            <a:ext cx="8761318" cy="315367"/>
          </a:xfrm>
          <a:prstGeom prst="rect">
            <a:avLst/>
          </a:prstGeom>
          <a:noFill/>
          <a:ln/>
        </p:spPr>
        <p:txBody>
          <a:bodyPr wrap="square" lIns="25400" tIns="25400" rIns="25400" bIns="25400" rtlCol="0" anchor="t">
            <a:normAutofit/>
          </a:bodyPr>
          <a:lstStyle/>
          <a:p>
            <a:pPr algn="l" indent="0" marL="0">
              <a:lnSpc>
                <a:spcPct val="137778"/>
              </a:lnSpc>
              <a:buNone/>
            </a:pPr>
            <a:r>
              <a:rPr lang="en-US" sz="3000" dirty="0">
                <a:solidFill>
                  <a:srgbClr val="E9E9ED"/>
                </a:solidFill>
                <a:latin typeface="Arial" pitchFamily="34" charset="0"/>
                <a:ea typeface="Arial" pitchFamily="34" charset="-122"/>
                <a:cs typeface="Arial" pitchFamily="34" charset="-120"/>
              </a:rPr>
              <a:t>elif y condiciones anidadas · Ejercicios 3 y 4</a:t>
            </a:r>
            <a:endParaRPr lang="en-US" sz="3000" dirty="0"/>
          </a:p>
        </p:txBody>
      </p:sp>
      <p:sp>
        <p:nvSpPr>
          <p:cNvPr id="13" name="Shape 11"/>
          <p:cNvSpPr/>
          <p:nvPr/>
        </p:nvSpPr>
        <p:spPr>
          <a:xfrm>
            <a:off x="1143000" y="7314754"/>
            <a:ext cx="9906000" cy="1371451"/>
          </a:xfrm>
          <a:prstGeom prst="rect">
            <a:avLst/>
          </a:prstGeom>
          <a:gradFill rotWithShape="1">
            <a:gsLst>
              <a:gs pos="0">
                <a:srgbClr val="E6E6EC">
                  <a:alpha val="0"/>
                </a:srgbClr>
              </a:gs>
              <a:gs pos="50000">
                <a:srgbClr val="E6E6EC">
                  <a:alpha val="16000"/>
                </a:srgbClr>
              </a:gs>
              <a:gs pos="100000">
                <a:srgbClr val="E6E6EC">
                  <a:alpha val="16000"/>
                </a:srgbClr>
              </a:gs>
              <a:gs pos="100000">
                <a:srgbClr val="E6E6EC">
                  <a:alpha val="0"/>
                </a:srgbClr>
              </a:gs>
            </a:gsLst>
            <a:lin ang="0" scaled="0"/>
          </a:gradFill>
          <a:ln/>
        </p:spPr>
      </p:sp>
      <p:sp>
        <p:nvSpPr>
          <p:cNvPr id="14" name="Text 12"/>
          <p:cNvSpPr/>
          <p:nvPr/>
        </p:nvSpPr>
        <p:spPr>
          <a:xfrm>
            <a:off x="1143000" y="7967960"/>
            <a:ext cx="372666" cy="204490"/>
          </a:xfrm>
          <a:prstGeom prst="rect">
            <a:avLst/>
          </a:prstGeom>
          <a:noFill/>
          <a:ln/>
        </p:spPr>
        <p:txBody>
          <a:bodyPr wrap="square" lIns="25400" tIns="25400" rIns="25400" bIns="25400" rtlCol="0" anchor="t">
            <a:normAutofit/>
          </a:bodyPr>
          <a:lstStyle/>
          <a:p>
            <a:pPr algn="l" indent="0" marL="0">
              <a:lnSpc>
                <a:spcPct val="132857"/>
              </a:lnSpc>
              <a:buNone/>
            </a:pPr>
            <a:r>
              <a:rPr lang="en-US" sz="1800" dirty="0">
                <a:solidFill>
                  <a:srgbClr val="9184D9"/>
                </a:solidFill>
                <a:latin typeface="Arial" pitchFamily="34" charset="0"/>
                <a:ea typeface="Arial" pitchFamily="34" charset="-122"/>
                <a:cs typeface="Arial" pitchFamily="34" charset="-120"/>
              </a:rPr>
              <a:t>04</a:t>
            </a:r>
            <a:endParaRPr lang="en-US" sz="1800" dirty="0"/>
          </a:p>
        </p:txBody>
      </p:sp>
      <p:sp>
        <p:nvSpPr>
          <p:cNvPr id="15" name="Text 13"/>
          <p:cNvSpPr/>
          <p:nvPr/>
        </p:nvSpPr>
        <p:spPr>
          <a:xfrm>
            <a:off x="1896666" y="7857083"/>
            <a:ext cx="7419707" cy="315367"/>
          </a:xfrm>
          <a:prstGeom prst="rect">
            <a:avLst/>
          </a:prstGeom>
          <a:noFill/>
          <a:ln/>
        </p:spPr>
        <p:txBody>
          <a:bodyPr wrap="square" lIns="25400" tIns="25400" rIns="25400" bIns="25400" rtlCol="0" anchor="t">
            <a:normAutofit/>
          </a:bodyPr>
          <a:lstStyle/>
          <a:p>
            <a:pPr algn="l" indent="0" marL="0">
              <a:lnSpc>
                <a:spcPct val="137778"/>
              </a:lnSpc>
              <a:buNone/>
            </a:pPr>
            <a:r>
              <a:rPr lang="en-US" sz="3000" dirty="0">
                <a:solidFill>
                  <a:srgbClr val="E9E9ED"/>
                </a:solidFill>
                <a:latin typeface="Arial" pitchFamily="34" charset="0"/>
                <a:ea typeface="Arial" pitchFamily="34" charset="-122"/>
                <a:cs typeface="Arial" pitchFamily="34" charset="-120"/>
              </a:rPr>
              <a:t>Operadores and / or / not · Ejercicio 5</a:t>
            </a:r>
            <a:endParaRPr lang="en-US" sz="3000" dirty="0"/>
          </a:p>
        </p:txBody>
      </p:sp>
      <p:sp>
        <p:nvSpPr>
          <p:cNvPr id="16" name="Shape 14"/>
          <p:cNvSpPr/>
          <p:nvPr/>
        </p:nvSpPr>
        <p:spPr>
          <a:xfrm>
            <a:off x="1143000" y="8686205"/>
            <a:ext cx="9906000" cy="1371451"/>
          </a:xfrm>
          <a:prstGeom prst="rect">
            <a:avLst/>
          </a:prstGeom>
          <a:gradFill rotWithShape="1">
            <a:gsLst>
              <a:gs pos="0">
                <a:srgbClr val="E6E6EC">
                  <a:alpha val="0"/>
                </a:srgbClr>
              </a:gs>
              <a:gs pos="50000">
                <a:srgbClr val="E6E6EC">
                  <a:alpha val="16000"/>
                </a:srgbClr>
              </a:gs>
              <a:gs pos="100000">
                <a:srgbClr val="E6E6EC">
                  <a:alpha val="16000"/>
                </a:srgbClr>
              </a:gs>
              <a:gs pos="100000">
                <a:srgbClr val="E6E6EC">
                  <a:alpha val="0"/>
                </a:srgbClr>
              </a:gs>
            </a:gsLst>
            <a:lin ang="0" scaled="0"/>
          </a:gradFill>
          <a:ln/>
        </p:spPr>
      </p:sp>
      <p:sp>
        <p:nvSpPr>
          <p:cNvPr id="17" name="Text 15"/>
          <p:cNvSpPr/>
          <p:nvPr/>
        </p:nvSpPr>
        <p:spPr>
          <a:xfrm>
            <a:off x="1143000" y="9339411"/>
            <a:ext cx="372666" cy="204490"/>
          </a:xfrm>
          <a:prstGeom prst="rect">
            <a:avLst/>
          </a:prstGeom>
          <a:noFill/>
          <a:ln/>
        </p:spPr>
        <p:txBody>
          <a:bodyPr wrap="square" lIns="25400" tIns="25400" rIns="25400" bIns="25400" rtlCol="0" anchor="t">
            <a:normAutofit/>
          </a:bodyPr>
          <a:lstStyle/>
          <a:p>
            <a:pPr algn="l" indent="0" marL="0">
              <a:lnSpc>
                <a:spcPct val="132857"/>
              </a:lnSpc>
              <a:buNone/>
            </a:pPr>
            <a:r>
              <a:rPr lang="en-US" sz="1800" dirty="0">
                <a:solidFill>
                  <a:srgbClr val="9184D9"/>
                </a:solidFill>
                <a:latin typeface="Arial" pitchFamily="34" charset="0"/>
                <a:ea typeface="Arial" pitchFamily="34" charset="-122"/>
                <a:cs typeface="Arial" pitchFamily="34" charset="-120"/>
              </a:rPr>
              <a:t>05</a:t>
            </a:r>
            <a:endParaRPr lang="en-US" sz="1800" dirty="0"/>
          </a:p>
        </p:txBody>
      </p:sp>
      <p:sp>
        <p:nvSpPr>
          <p:cNvPr id="18" name="Text 16"/>
          <p:cNvSpPr/>
          <p:nvPr/>
        </p:nvSpPr>
        <p:spPr>
          <a:xfrm>
            <a:off x="1896666" y="9228534"/>
            <a:ext cx="4664779" cy="315367"/>
          </a:xfrm>
          <a:prstGeom prst="rect">
            <a:avLst/>
          </a:prstGeom>
          <a:noFill/>
          <a:ln/>
        </p:spPr>
        <p:txBody>
          <a:bodyPr wrap="square" lIns="25400" tIns="25400" rIns="25400" bIns="25400" rtlCol="0" anchor="t">
            <a:normAutofit/>
          </a:bodyPr>
          <a:lstStyle/>
          <a:p>
            <a:pPr algn="l" indent="0" marL="0">
              <a:lnSpc>
                <a:spcPct val="137778"/>
              </a:lnSpc>
              <a:buNone/>
            </a:pPr>
            <a:r>
              <a:rPr lang="en-US" sz="3000" dirty="0">
                <a:solidFill>
                  <a:srgbClr val="E9E9ED"/>
                </a:solidFill>
                <a:latin typeface="Arial" pitchFamily="34" charset="0"/>
                <a:ea typeface="Arial" pitchFamily="34" charset="-122"/>
                <a:cs typeface="Arial" pitchFamily="34" charset="-120"/>
              </a:rPr>
              <a:t>Desafío final y resumen</a:t>
            </a:r>
            <a:endParaRPr lang="en-US" sz="3000" dirty="0"/>
          </a:p>
        </p:txBody>
      </p:sp>
      <p:pic>
        <p:nvPicPr>
          <p:cNvPr id="19" name="Image 0" descr="preencoded.png">    </p:cNvPr>
          <p:cNvPicPr>
            <a:picLocks noChangeAspect="1"/>
          </p:cNvPicPr>
          <p:nvPr/>
        </p:nvPicPr>
        <p:blipFill>
          <a:blip r:embed="rId1"/>
          <a:stretch>
            <a:fillRect/>
          </a:stretch>
        </p:blipFill>
        <p:spPr>
          <a:xfrm>
            <a:off x="13770025" y="9815810"/>
            <a:ext cx="3374975" cy="16639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82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B2741">
                  <a:alpha val="75000"/>
                </a:srgbClr>
              </a:gs>
              <a:gs pos="58000">
                <a:srgbClr val="2B2741">
                  <a:alpha val="0"/>
                </a:srgbClr>
              </a:gs>
            </a:gsLst>
            <a:path path="circle">
              <a:fillToRect l="80000" t="0" r="20000" b="100000"/>
            </a:path>
          </a:gradFill>
          <a:ln/>
        </p:spPr>
      </p:sp>
      <p:sp>
        <p:nvSpPr>
          <p:cNvPr id="3" name="Text 1"/>
          <p:cNvSpPr/>
          <p:nvPr/>
        </p:nvSpPr>
        <p:spPr>
          <a:xfrm>
            <a:off x="1143000" y="748010"/>
            <a:ext cx="2139702" cy="204490"/>
          </a:xfrm>
          <a:prstGeom prst="rect">
            <a:avLst/>
          </a:prstGeom>
          <a:noFill/>
          <a:ln/>
        </p:spPr>
        <p:txBody>
          <a:bodyPr wrap="square" lIns="25400" tIns="25400" rIns="25400" bIns="25400" rtlCol="0" anchor="t">
            <a:normAutofit/>
          </a:bodyPr>
          <a:lstStyle/>
          <a:p>
            <a:pPr algn="l" indent="0" marL="0">
              <a:lnSpc>
                <a:spcPct val="132857"/>
              </a:lnSpc>
              <a:buNone/>
            </a:pPr>
            <a:r>
              <a:rPr lang="en-US" sz="1800" spc="108" kern="0" dirty="0">
                <a:solidFill>
                  <a:srgbClr val="9184D9"/>
                </a:solidFill>
                <a:latin typeface="Arial" pitchFamily="34" charset="0"/>
                <a:ea typeface="Arial" pitchFamily="34" charset="-122"/>
                <a:cs typeface="Arial" pitchFamily="34" charset="-120"/>
              </a:rPr>
              <a:t>INTRODUCCIÓN</a:t>
            </a:r>
            <a:endParaRPr lang="en-US" sz="1800" dirty="0"/>
          </a:p>
        </p:txBody>
      </p:sp>
      <p:sp>
        <p:nvSpPr>
          <p:cNvPr id="4" name="Text 2"/>
          <p:cNvSpPr/>
          <p:nvPr/>
        </p:nvSpPr>
        <p:spPr>
          <a:xfrm>
            <a:off x="1106537" y="1842492"/>
            <a:ext cx="17642309" cy="481608"/>
          </a:xfrm>
          <a:prstGeom prst="rect">
            <a:avLst/>
          </a:prstGeom>
          <a:noFill/>
          <a:ln/>
        </p:spPr>
        <p:txBody>
          <a:bodyPr wrap="square" lIns="25400" tIns="25400" rIns="25400" bIns="25400" rtlCol="0" anchor="t">
            <a:normAutofit/>
          </a:bodyPr>
          <a:lstStyle/>
          <a:p>
            <a:pPr algn="l" indent="0" marL="0">
              <a:lnSpc>
                <a:spcPct val="97297"/>
              </a:lnSpc>
              <a:buNone/>
            </a:pPr>
            <a:r>
              <a:rPr lang="en-US" sz="4800" spc="-72" kern="0" dirty="0">
                <a:solidFill>
                  <a:srgbClr val="E9E9ED"/>
                </a:solidFill>
                <a:latin typeface="Arial" pitchFamily="34" charset="0"/>
                <a:ea typeface="Arial" pitchFamily="34" charset="-122"/>
                <a:cs typeface="Arial" pitchFamily="34" charset="-120"/>
              </a:rPr>
              <a:t>¿Qué vas a lograr esta semana?</a:t>
            </a:r>
            <a:endParaRPr lang="en-US" sz="4800" dirty="0"/>
          </a:p>
        </p:txBody>
      </p:sp>
      <p:sp>
        <p:nvSpPr>
          <p:cNvPr id="5" name="Text 3"/>
          <p:cNvSpPr/>
          <p:nvPr/>
        </p:nvSpPr>
        <p:spPr>
          <a:xfrm>
            <a:off x="1143000" y="3421856"/>
            <a:ext cx="12363450" cy="273695"/>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Entender qué es un condicional y para qué sirve.</a:t>
            </a:r>
            <a:endParaRPr lang="en-US" sz="2550" dirty="0"/>
          </a:p>
        </p:txBody>
      </p:sp>
      <p:sp>
        <p:nvSpPr>
          <p:cNvPr id="6" name="Text 4"/>
          <p:cNvSpPr/>
          <p:nvPr/>
        </p:nvSpPr>
        <p:spPr>
          <a:xfrm>
            <a:off x="1143000" y="4336107"/>
            <a:ext cx="12363450" cy="273695"/>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Escribir tus primeros </a:t>
            </a:r>
            <a:pPr algn="l" indent="0" marL="0">
              <a:lnSpc>
                <a:spcPct val="123077"/>
              </a:lnSpc>
              <a:buNone/>
            </a:pPr>
            <a:r>
              <a:rPr lang="en-US" sz="2550" b="1" dirty="0">
                <a:solidFill>
                  <a:srgbClr val="E9E9ED"/>
                </a:solidFill>
                <a:latin typeface="Arial" pitchFamily="34" charset="0"/>
                <a:ea typeface="Arial" pitchFamily="34" charset="-122"/>
                <a:cs typeface="Arial" pitchFamily="34" charset="-120"/>
              </a:rPr>
              <a:t>if </a:t>
            </a:r>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 </a:t>
            </a:r>
            <a:pPr algn="l" indent="0" marL="0">
              <a:lnSpc>
                <a:spcPct val="123077"/>
              </a:lnSpc>
              <a:buNone/>
            </a:pPr>
            <a:r>
              <a:rPr lang="en-US" sz="2550" b="1" dirty="0">
                <a:solidFill>
                  <a:srgbClr val="E9E9ED"/>
                </a:solidFill>
                <a:latin typeface="Arial" pitchFamily="34" charset="0"/>
                <a:ea typeface="Arial" pitchFamily="34" charset="-122"/>
                <a:cs typeface="Arial" pitchFamily="34" charset="-120"/>
              </a:rPr>
              <a:t>else </a:t>
            </a:r>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en Python.</a:t>
            </a:r>
            <a:endParaRPr lang="en-US" sz="2550" dirty="0"/>
          </a:p>
        </p:txBody>
      </p:sp>
      <p:sp>
        <p:nvSpPr>
          <p:cNvPr id="7" name="Text 5"/>
          <p:cNvSpPr/>
          <p:nvPr/>
        </p:nvSpPr>
        <p:spPr>
          <a:xfrm>
            <a:off x="1143000" y="5250359"/>
            <a:ext cx="12363450" cy="273695"/>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Encadenar varias condiciones con </a:t>
            </a:r>
            <a:pPr algn="l" indent="0" marL="0">
              <a:lnSpc>
                <a:spcPct val="123077"/>
              </a:lnSpc>
              <a:buNone/>
            </a:pPr>
            <a:r>
              <a:rPr lang="en-US" sz="2550" b="1" dirty="0">
                <a:solidFill>
                  <a:srgbClr val="E9E9ED"/>
                </a:solidFill>
                <a:latin typeface="Arial" pitchFamily="34" charset="0"/>
                <a:ea typeface="Arial" pitchFamily="34" charset="-122"/>
                <a:cs typeface="Arial" pitchFamily="34" charset="-120"/>
              </a:rPr>
              <a:t>elif </a:t>
            </a:r>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y anidar condicionales.</a:t>
            </a:r>
            <a:endParaRPr lang="en-US" sz="2550" dirty="0"/>
          </a:p>
        </p:txBody>
      </p:sp>
      <p:sp>
        <p:nvSpPr>
          <p:cNvPr id="8" name="Text 6"/>
          <p:cNvSpPr/>
          <p:nvPr/>
        </p:nvSpPr>
        <p:spPr>
          <a:xfrm>
            <a:off x="1143000" y="6164610"/>
            <a:ext cx="12363450" cy="273695"/>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Combinar condiciones con </a:t>
            </a:r>
            <a:pPr algn="l" indent="0" marL="0">
              <a:lnSpc>
                <a:spcPct val="123077"/>
              </a:lnSpc>
              <a:buNone/>
            </a:pPr>
            <a:r>
              <a:rPr lang="en-US" sz="2550" b="1" dirty="0">
                <a:solidFill>
                  <a:srgbClr val="E9E9ED"/>
                </a:solidFill>
                <a:latin typeface="Arial" pitchFamily="34" charset="0"/>
                <a:ea typeface="Arial" pitchFamily="34" charset="-122"/>
                <a:cs typeface="Arial" pitchFamily="34" charset="-120"/>
              </a:rPr>
              <a:t>and</a:t>
            </a:r>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 </a:t>
            </a:r>
            <a:pPr algn="l" indent="0" marL="0">
              <a:lnSpc>
                <a:spcPct val="123077"/>
              </a:lnSpc>
              <a:buNone/>
            </a:pPr>
            <a:r>
              <a:rPr lang="en-US" sz="2550" b="1" dirty="0">
                <a:solidFill>
                  <a:srgbClr val="E9E9ED"/>
                </a:solidFill>
                <a:latin typeface="Arial" pitchFamily="34" charset="0"/>
                <a:ea typeface="Arial" pitchFamily="34" charset="-122"/>
                <a:cs typeface="Arial" pitchFamily="34" charset="-120"/>
              </a:rPr>
              <a:t>or </a:t>
            </a:r>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y </a:t>
            </a:r>
            <a:pPr algn="l" indent="0" marL="0">
              <a:lnSpc>
                <a:spcPct val="123077"/>
              </a:lnSpc>
              <a:buNone/>
            </a:pPr>
            <a:r>
              <a:rPr lang="en-US" sz="2550" b="1" dirty="0">
                <a:solidFill>
                  <a:srgbClr val="E9E9ED"/>
                </a:solidFill>
                <a:latin typeface="Arial" pitchFamily="34" charset="0"/>
                <a:ea typeface="Arial" pitchFamily="34" charset="-122"/>
                <a:cs typeface="Arial" pitchFamily="34" charset="-120"/>
              </a:rPr>
              <a:t>not</a:t>
            </a:r>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a:t>
            </a:r>
            <a:endParaRPr lang="en-US" sz="2550" dirty="0"/>
          </a:p>
        </p:txBody>
      </p:sp>
      <p:pic>
        <p:nvPicPr>
          <p:cNvPr id="9" name="Image 0" descr="preencoded.png">    </p:cNvPr>
          <p:cNvPicPr>
            <a:picLocks noChangeAspect="1"/>
          </p:cNvPicPr>
          <p:nvPr/>
        </p:nvPicPr>
        <p:blipFill>
          <a:blip r:embed="rId1"/>
          <a:stretch>
            <a:fillRect/>
          </a:stretch>
        </p:blipFill>
        <p:spPr>
          <a:xfrm>
            <a:off x="13770025" y="9815810"/>
            <a:ext cx="3374975" cy="16639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82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B2741">
                  <a:alpha val="75000"/>
                </a:srgbClr>
              </a:gs>
              <a:gs pos="58000">
                <a:srgbClr val="2B2741">
                  <a:alpha val="0"/>
                </a:srgbClr>
              </a:gs>
            </a:gsLst>
            <a:path path="circle">
              <a:fillToRect l="80000" t="0" r="20000" b="100000"/>
            </a:path>
          </a:gradFill>
          <a:ln/>
        </p:spPr>
      </p:sp>
      <p:sp>
        <p:nvSpPr>
          <p:cNvPr id="3" name="Text 1"/>
          <p:cNvSpPr/>
          <p:nvPr/>
        </p:nvSpPr>
        <p:spPr>
          <a:xfrm>
            <a:off x="1143000" y="748010"/>
            <a:ext cx="2961531" cy="204490"/>
          </a:xfrm>
          <a:prstGeom prst="rect">
            <a:avLst/>
          </a:prstGeom>
          <a:noFill/>
          <a:ln/>
        </p:spPr>
        <p:txBody>
          <a:bodyPr wrap="square" lIns="25400" tIns="25400" rIns="25400" bIns="25400" rtlCol="0" anchor="t">
            <a:normAutofit/>
          </a:bodyPr>
          <a:lstStyle/>
          <a:p>
            <a:pPr algn="l" indent="0" marL="0">
              <a:lnSpc>
                <a:spcPct val="132857"/>
              </a:lnSpc>
              <a:buNone/>
            </a:pPr>
            <a:r>
              <a:rPr lang="en-US" sz="1800" spc="108" kern="0" dirty="0">
                <a:solidFill>
                  <a:srgbClr val="9184D9"/>
                </a:solidFill>
                <a:latin typeface="Arial" pitchFamily="34" charset="0"/>
                <a:ea typeface="Arial" pitchFamily="34" charset="-122"/>
                <a:cs typeface="Arial" pitchFamily="34" charset="-120"/>
              </a:rPr>
              <a:t>CONCEPTOS PREVIOS</a:t>
            </a:r>
            <a:endParaRPr lang="en-US" sz="1800" dirty="0"/>
          </a:p>
        </p:txBody>
      </p:sp>
      <p:sp>
        <p:nvSpPr>
          <p:cNvPr id="4" name="Text 2"/>
          <p:cNvSpPr/>
          <p:nvPr/>
        </p:nvSpPr>
        <p:spPr>
          <a:xfrm>
            <a:off x="1106537" y="1842492"/>
            <a:ext cx="17642309" cy="481608"/>
          </a:xfrm>
          <a:prstGeom prst="rect">
            <a:avLst/>
          </a:prstGeom>
          <a:noFill/>
          <a:ln/>
        </p:spPr>
        <p:txBody>
          <a:bodyPr wrap="square" lIns="25400" tIns="25400" rIns="25400" bIns="25400" rtlCol="0" anchor="t">
            <a:normAutofit/>
          </a:bodyPr>
          <a:lstStyle/>
          <a:p>
            <a:pPr algn="l" indent="0" marL="0">
              <a:lnSpc>
                <a:spcPct val="97297"/>
              </a:lnSpc>
              <a:buNone/>
            </a:pPr>
            <a:r>
              <a:rPr lang="en-US" sz="4800" spc="-72" kern="0" dirty="0">
                <a:solidFill>
                  <a:srgbClr val="E9E9ED"/>
                </a:solidFill>
                <a:latin typeface="Arial" pitchFamily="34" charset="0"/>
                <a:ea typeface="Arial" pitchFamily="34" charset="-122"/>
                <a:cs typeface="Arial" pitchFamily="34" charset="-120"/>
              </a:rPr>
              <a:t>¿Qué necesitás saber ya?</a:t>
            </a:r>
            <a:endParaRPr lang="en-US" sz="4800" dirty="0"/>
          </a:p>
        </p:txBody>
      </p:sp>
      <p:sp>
        <p:nvSpPr>
          <p:cNvPr id="5" name="Text 3"/>
          <p:cNvSpPr/>
          <p:nvPr/>
        </p:nvSpPr>
        <p:spPr>
          <a:xfrm>
            <a:off x="1143000" y="4010769"/>
            <a:ext cx="8298180" cy="273695"/>
          </a:xfrm>
          <a:prstGeom prst="rect">
            <a:avLst/>
          </a:prstGeom>
          <a:noFill/>
          <a:ln/>
        </p:spPr>
        <p:txBody>
          <a:bodyPr wrap="square" lIns="25400" tIns="25400" rIns="25400" bIns="25400" rtlCol="0" anchor="t">
            <a:normAutofit/>
          </a:bodyPr>
          <a:lstStyle/>
          <a:p>
            <a:pPr algn="l" indent="0" marL="0">
              <a:lnSpc>
                <a:spcPct val="97641"/>
              </a:lnSpc>
              <a:buNone/>
            </a:pPr>
            <a:r>
              <a:rPr lang="en-US" sz="2550" spc="-38" kern="0" dirty="0">
                <a:solidFill>
                  <a:srgbClr val="E9E9ED"/>
                </a:solidFill>
                <a:latin typeface="Arial" pitchFamily="34" charset="0"/>
                <a:ea typeface="Arial" pitchFamily="34" charset="-122"/>
                <a:cs typeface="Arial" pitchFamily="34" charset="-120"/>
              </a:rPr>
              <a:t>Ya sabés</a:t>
            </a:r>
            <a:endParaRPr lang="en-US" sz="2550" dirty="0"/>
          </a:p>
        </p:txBody>
      </p:sp>
      <p:sp>
        <p:nvSpPr>
          <p:cNvPr id="6" name="Text 4"/>
          <p:cNvSpPr/>
          <p:nvPr/>
        </p:nvSpPr>
        <p:spPr>
          <a:xfrm>
            <a:off x="1143000" y="4467820"/>
            <a:ext cx="7770114" cy="689372"/>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CFD3E5"/>
                </a:solidFill>
                <a:latin typeface="Arial" pitchFamily="34" charset="0"/>
                <a:ea typeface="Arial" pitchFamily="34" charset="-122"/>
                <a:cs typeface="Arial" pitchFamily="34" charset="-120"/>
              </a:rPr>
              <a:t>Crear variables, usar input() para pedir datos, convertir con int() / float(), y comparar con == != &gt; &lt; &gt;= &lt;=.</a:t>
            </a:r>
            <a:endParaRPr lang="en-US" sz="2100" dirty="0"/>
          </a:p>
        </p:txBody>
      </p:sp>
      <p:sp>
        <p:nvSpPr>
          <p:cNvPr id="7" name="Text 5"/>
          <p:cNvSpPr/>
          <p:nvPr/>
        </p:nvSpPr>
        <p:spPr>
          <a:xfrm>
            <a:off x="9601200" y="4010769"/>
            <a:ext cx="8298180" cy="273695"/>
          </a:xfrm>
          <a:prstGeom prst="rect">
            <a:avLst/>
          </a:prstGeom>
          <a:noFill/>
          <a:ln/>
        </p:spPr>
        <p:txBody>
          <a:bodyPr wrap="square" lIns="25400" tIns="25400" rIns="25400" bIns="25400" rtlCol="0" anchor="t">
            <a:normAutofit/>
          </a:bodyPr>
          <a:lstStyle/>
          <a:p>
            <a:pPr algn="l" indent="0" marL="0">
              <a:lnSpc>
                <a:spcPct val="97641"/>
              </a:lnSpc>
              <a:buNone/>
            </a:pPr>
            <a:r>
              <a:rPr lang="en-US" sz="2550" spc="-38" kern="0" dirty="0">
                <a:solidFill>
                  <a:srgbClr val="E9E9ED"/>
                </a:solidFill>
                <a:latin typeface="Arial" pitchFamily="34" charset="0"/>
                <a:ea typeface="Arial" pitchFamily="34" charset="-122"/>
                <a:cs typeface="Arial" pitchFamily="34" charset="-120"/>
              </a:rPr>
              <a:t>Hoy sumamos</a:t>
            </a:r>
            <a:endParaRPr lang="en-US" sz="2550" dirty="0"/>
          </a:p>
        </p:txBody>
      </p:sp>
      <p:sp>
        <p:nvSpPr>
          <p:cNvPr id="8" name="Text 6"/>
          <p:cNvSpPr/>
          <p:nvPr/>
        </p:nvSpPr>
        <p:spPr>
          <a:xfrm>
            <a:off x="9601200" y="4467820"/>
            <a:ext cx="7770114" cy="689372"/>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CFD3E5"/>
                </a:solidFill>
                <a:latin typeface="Arial" pitchFamily="34" charset="0"/>
                <a:ea typeface="Arial" pitchFamily="34" charset="-122"/>
                <a:cs typeface="Arial" pitchFamily="34" charset="-120"/>
              </a:rPr>
              <a:t>if, else, elif, condicionales anidados y los operadores lógicos and, or, not.</a:t>
            </a:r>
            <a:endParaRPr lang="en-US" sz="2100" dirty="0"/>
          </a:p>
        </p:txBody>
      </p:sp>
      <p:pic>
        <p:nvPicPr>
          <p:cNvPr id="9" name="Image 0" descr="preencoded.png">    </p:cNvPr>
          <p:cNvPicPr>
            <a:picLocks noChangeAspect="1"/>
          </p:cNvPicPr>
          <p:nvPr/>
        </p:nvPicPr>
        <p:blipFill>
          <a:blip r:embed="rId1"/>
          <a:stretch>
            <a:fillRect/>
          </a:stretch>
        </p:blipFill>
        <p:spPr>
          <a:xfrm>
            <a:off x="13770025" y="9815810"/>
            <a:ext cx="3374975" cy="16639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82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B2741">
                  <a:alpha val="75000"/>
                </a:srgbClr>
              </a:gs>
              <a:gs pos="58000">
                <a:srgbClr val="2B2741">
                  <a:alpha val="0"/>
                </a:srgbClr>
              </a:gs>
            </a:gsLst>
            <a:path path="circle">
              <a:fillToRect l="80000" t="0" r="20000" b="100000"/>
            </a:path>
          </a:gradFill>
          <a:ln/>
        </p:spPr>
      </p:sp>
      <p:sp>
        <p:nvSpPr>
          <p:cNvPr id="3" name="Text 1"/>
          <p:cNvSpPr/>
          <p:nvPr/>
        </p:nvSpPr>
        <p:spPr>
          <a:xfrm>
            <a:off x="1143000" y="748010"/>
            <a:ext cx="1528733" cy="204490"/>
          </a:xfrm>
          <a:prstGeom prst="rect">
            <a:avLst/>
          </a:prstGeom>
          <a:noFill/>
          <a:ln/>
        </p:spPr>
        <p:txBody>
          <a:bodyPr wrap="square" lIns="25400" tIns="25400" rIns="25400" bIns="25400" rtlCol="0" anchor="t">
            <a:normAutofit/>
          </a:bodyPr>
          <a:lstStyle/>
          <a:p>
            <a:pPr algn="l" indent="0" marL="0">
              <a:lnSpc>
                <a:spcPct val="132857"/>
              </a:lnSpc>
              <a:buNone/>
            </a:pPr>
            <a:r>
              <a:rPr lang="en-US" sz="1800" spc="108" kern="0" dirty="0">
                <a:solidFill>
                  <a:srgbClr val="9184D9"/>
                </a:solidFill>
                <a:latin typeface="Arial" pitchFamily="34" charset="0"/>
                <a:ea typeface="Arial" pitchFamily="34" charset="-122"/>
                <a:cs typeface="Arial" pitchFamily="34" charset="-120"/>
              </a:rPr>
              <a:t>CONCEPTO</a:t>
            </a:r>
            <a:endParaRPr lang="en-US" sz="1800" dirty="0"/>
          </a:p>
        </p:txBody>
      </p:sp>
      <p:sp>
        <p:nvSpPr>
          <p:cNvPr id="4" name="Text 2"/>
          <p:cNvSpPr/>
          <p:nvPr/>
        </p:nvSpPr>
        <p:spPr>
          <a:xfrm>
            <a:off x="1106537" y="1842492"/>
            <a:ext cx="17642309" cy="481608"/>
          </a:xfrm>
          <a:prstGeom prst="rect">
            <a:avLst/>
          </a:prstGeom>
          <a:noFill/>
          <a:ln/>
        </p:spPr>
        <p:txBody>
          <a:bodyPr wrap="square" lIns="25400" tIns="25400" rIns="25400" bIns="25400" rtlCol="0" anchor="t">
            <a:normAutofit/>
          </a:bodyPr>
          <a:lstStyle/>
          <a:p>
            <a:pPr algn="l" indent="0" marL="0">
              <a:lnSpc>
                <a:spcPct val="97297"/>
              </a:lnSpc>
              <a:buNone/>
            </a:pPr>
            <a:r>
              <a:rPr lang="en-US" sz="4800" spc="-72" kern="0" dirty="0">
                <a:solidFill>
                  <a:srgbClr val="E9E9ED"/>
                </a:solidFill>
                <a:latin typeface="Arial" pitchFamily="34" charset="0"/>
                <a:ea typeface="Arial" pitchFamily="34" charset="-122"/>
                <a:cs typeface="Arial" pitchFamily="34" charset="-120"/>
              </a:rPr>
              <a:t>¿Qué es un condicional?</a:t>
            </a:r>
            <a:endParaRPr lang="en-US" sz="4800" dirty="0"/>
          </a:p>
        </p:txBody>
      </p:sp>
      <p:sp>
        <p:nvSpPr>
          <p:cNvPr id="5" name="Text 3"/>
          <p:cNvSpPr/>
          <p:nvPr/>
        </p:nvSpPr>
        <p:spPr>
          <a:xfrm>
            <a:off x="1143000" y="3421856"/>
            <a:ext cx="11576685" cy="730895"/>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Es una instrucción que le permite al programa </a:t>
            </a:r>
            <a:pPr algn="l" indent="0" marL="0">
              <a:lnSpc>
                <a:spcPct val="123077"/>
              </a:lnSpc>
              <a:buNone/>
            </a:pPr>
            <a:r>
              <a:rPr lang="en-US" sz="2550" b="1" dirty="0">
                <a:solidFill>
                  <a:srgbClr val="E9E9ED"/>
                </a:solidFill>
                <a:latin typeface="Arial" pitchFamily="34" charset="0"/>
                <a:ea typeface="Arial" pitchFamily="34" charset="-122"/>
                <a:cs typeface="Arial" pitchFamily="34" charset="-120"/>
              </a:rPr>
              <a:t>elegir un camino </a:t>
            </a:r>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según si algo es verdadero o falso.</a:t>
            </a:r>
            <a:endParaRPr lang="en-US" sz="2550" dirty="0"/>
          </a:p>
        </p:txBody>
      </p:sp>
      <p:sp>
        <p:nvSpPr>
          <p:cNvPr id="6" name="Text 4"/>
          <p:cNvSpPr/>
          <p:nvPr/>
        </p:nvSpPr>
        <p:spPr>
          <a:xfrm>
            <a:off x="1143000" y="4793307"/>
            <a:ext cx="12363450" cy="273695"/>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Como en la vida real: "si llueve, llevo paraguas; si no, no lo llevo".</a:t>
            </a:r>
            <a:endParaRPr lang="en-US" sz="2550" dirty="0"/>
          </a:p>
        </p:txBody>
      </p:sp>
      <p:sp>
        <p:nvSpPr>
          <p:cNvPr id="7" name="Text 5"/>
          <p:cNvSpPr/>
          <p:nvPr/>
        </p:nvSpPr>
        <p:spPr>
          <a:xfrm>
            <a:off x="1143000" y="5707559"/>
            <a:ext cx="12363450" cy="273695"/>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En Python se escribe con </a:t>
            </a:r>
            <a:pPr algn="l" indent="0" marL="0">
              <a:lnSpc>
                <a:spcPct val="123077"/>
              </a:lnSpc>
              <a:buNone/>
            </a:pPr>
            <a:r>
              <a:rPr lang="en-US" sz="2550" b="1" dirty="0">
                <a:solidFill>
                  <a:srgbClr val="E9E9ED"/>
                </a:solidFill>
                <a:latin typeface="Arial" pitchFamily="34" charset="0"/>
                <a:ea typeface="Arial" pitchFamily="34" charset="-122"/>
                <a:cs typeface="Arial" pitchFamily="34" charset="-120"/>
              </a:rPr>
              <a:t>if </a:t>
            </a:r>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(si) y, opcionalmente, </a:t>
            </a:r>
            <a:pPr algn="l" indent="0" marL="0">
              <a:lnSpc>
                <a:spcPct val="123077"/>
              </a:lnSpc>
              <a:buNone/>
            </a:pPr>
            <a:r>
              <a:rPr lang="en-US" sz="2550" b="1" dirty="0">
                <a:solidFill>
                  <a:srgbClr val="E9E9ED"/>
                </a:solidFill>
                <a:latin typeface="Arial" pitchFamily="34" charset="0"/>
                <a:ea typeface="Arial" pitchFamily="34" charset="-122"/>
                <a:cs typeface="Arial" pitchFamily="34" charset="-120"/>
              </a:rPr>
              <a:t>else </a:t>
            </a:r>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(si no).</a:t>
            </a:r>
            <a:endParaRPr lang="en-US" sz="2550" dirty="0"/>
          </a:p>
        </p:txBody>
      </p:sp>
      <p:pic>
        <p:nvPicPr>
          <p:cNvPr id="8" name="Image 0" descr="preencoded.png">    </p:cNvPr>
          <p:cNvPicPr>
            <a:picLocks noChangeAspect="1"/>
          </p:cNvPicPr>
          <p:nvPr/>
        </p:nvPicPr>
        <p:blipFill>
          <a:blip r:embed="rId1"/>
          <a:stretch>
            <a:fillRect/>
          </a:stretch>
        </p:blipFill>
        <p:spPr>
          <a:xfrm>
            <a:off x="13770025" y="9815810"/>
            <a:ext cx="3374975" cy="16639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82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B2741">
                  <a:alpha val="75000"/>
                </a:srgbClr>
              </a:gs>
              <a:gs pos="58000">
                <a:srgbClr val="2B2741">
                  <a:alpha val="0"/>
                </a:srgbClr>
              </a:gs>
            </a:gsLst>
            <a:path path="circle">
              <a:fillToRect l="80000" t="0" r="20000" b="100000"/>
            </a:path>
          </a:gradFill>
          <a:ln/>
        </p:spPr>
      </p:sp>
      <p:sp>
        <p:nvSpPr>
          <p:cNvPr id="3" name="Text 1"/>
          <p:cNvSpPr/>
          <p:nvPr/>
        </p:nvSpPr>
        <p:spPr>
          <a:xfrm>
            <a:off x="1143000" y="748010"/>
            <a:ext cx="1528733" cy="204490"/>
          </a:xfrm>
          <a:prstGeom prst="rect">
            <a:avLst/>
          </a:prstGeom>
          <a:noFill/>
          <a:ln/>
        </p:spPr>
        <p:txBody>
          <a:bodyPr wrap="square" lIns="25400" tIns="25400" rIns="25400" bIns="25400" rtlCol="0" anchor="t">
            <a:normAutofit/>
          </a:bodyPr>
          <a:lstStyle/>
          <a:p>
            <a:pPr algn="l" indent="0" marL="0">
              <a:lnSpc>
                <a:spcPct val="132857"/>
              </a:lnSpc>
              <a:buNone/>
            </a:pPr>
            <a:r>
              <a:rPr lang="en-US" sz="1800" spc="108" kern="0" dirty="0">
                <a:solidFill>
                  <a:srgbClr val="9184D9"/>
                </a:solidFill>
                <a:latin typeface="Arial" pitchFamily="34" charset="0"/>
                <a:ea typeface="Arial" pitchFamily="34" charset="-122"/>
                <a:cs typeface="Arial" pitchFamily="34" charset="-120"/>
              </a:rPr>
              <a:t>CONCEPTO</a:t>
            </a:r>
            <a:endParaRPr lang="en-US" sz="1800" dirty="0"/>
          </a:p>
        </p:txBody>
      </p:sp>
      <p:sp>
        <p:nvSpPr>
          <p:cNvPr id="4" name="Text 2"/>
          <p:cNvSpPr/>
          <p:nvPr/>
        </p:nvSpPr>
        <p:spPr>
          <a:xfrm>
            <a:off x="1106537" y="1842492"/>
            <a:ext cx="17642309" cy="481608"/>
          </a:xfrm>
          <a:prstGeom prst="rect">
            <a:avLst/>
          </a:prstGeom>
          <a:noFill/>
          <a:ln/>
        </p:spPr>
        <p:txBody>
          <a:bodyPr wrap="square" lIns="25400" tIns="25400" rIns="25400" bIns="25400" rtlCol="0" anchor="t">
            <a:normAutofit/>
          </a:bodyPr>
          <a:lstStyle/>
          <a:p>
            <a:pPr algn="l" indent="0" marL="0">
              <a:lnSpc>
                <a:spcPct val="97297"/>
              </a:lnSpc>
              <a:buNone/>
            </a:pPr>
            <a:r>
              <a:rPr lang="en-US" sz="4800" spc="-72" kern="0" dirty="0">
                <a:solidFill>
                  <a:srgbClr val="E9E9ED"/>
                </a:solidFill>
                <a:latin typeface="Arial" pitchFamily="34" charset="0"/>
                <a:ea typeface="Arial" pitchFamily="34" charset="-122"/>
                <a:cs typeface="Arial" pitchFamily="34" charset="-120"/>
              </a:rPr>
              <a:t>La forma de un if en Python</a:t>
            </a:r>
            <a:endParaRPr lang="en-US" sz="4800" dirty="0"/>
          </a:p>
        </p:txBody>
      </p:sp>
      <p:sp>
        <p:nvSpPr>
          <p:cNvPr id="5" name="Shape 3"/>
          <p:cNvSpPr/>
          <p:nvPr/>
        </p:nvSpPr>
        <p:spPr>
          <a:xfrm>
            <a:off x="1143000" y="3487341"/>
            <a:ext cx="14097000" cy="4088309"/>
          </a:xfrm>
          <a:prstGeom prst="roundRect">
            <a:avLst>
              <a:gd name="adj" fmla="val 1864"/>
            </a:avLst>
          </a:prstGeom>
          <a:solidFill>
            <a:srgbClr val="3F424D"/>
          </a:solidFill>
          <a:ln w="9525">
            <a:solidFill>
              <a:srgbClr val="E6E6EC">
                <a:alpha val="16000"/>
              </a:srgbClr>
            </a:solidFill>
            <a:prstDash val="solid"/>
          </a:ln>
          <a:effectLst>
            <a:outerShdw sx="100000" sy="100000" kx="0" ky="0" algn="bl" rotWithShape="0" blurRad="101600" dist="50800" dir="16200000">
              <a:srgbClr val="3F424D">
                <a:alpha val="100000"/>
              </a:srgbClr>
            </a:outerShdw>
          </a:effectLst>
        </p:spPr>
      </p:sp>
      <p:sp>
        <p:nvSpPr>
          <p:cNvPr id="6" name="Text 4"/>
          <p:cNvSpPr/>
          <p:nvPr/>
        </p:nvSpPr>
        <p:spPr>
          <a:xfrm>
            <a:off x="1533525" y="3954066"/>
            <a:ext cx="13738860" cy="3192959"/>
          </a:xfrm>
          <a:prstGeom prst="rect">
            <a:avLst/>
          </a:prstGeom>
          <a:noFill/>
          <a:ln/>
        </p:spPr>
        <p:txBody>
          <a:bodyPr wrap="none" lIns="25400" tIns="25400" rIns="25400" bIns="25400" rtlCol="0" anchor="t">
            <a:normAutofit/>
          </a:bodyPr>
          <a:lstStyle/>
          <a:p>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if </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condicion:</a:t>
            </a:r>
            <a:endParaRPr lang="en-US" sz="2100" dirty="0"/>
          </a:p>
          <a:p>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a:t>
            </a:r>
            <a:endParaRPr lang="en-US" sz="2100" dirty="0"/>
          </a:p>
          <a:p>
            <a:pPr algn="l" indent="0" marL="0">
              <a:lnSpc>
                <a:spcPct val="178065"/>
              </a:lnSpc>
              <a:buNone/>
            </a:pPr>
            <a:r>
              <a:rPr lang="en-US" sz="2100" i="1" dirty="0">
                <a:solidFill>
                  <a:srgbClr val="E9E9ED">
                    <a:alpha val="45000"/>
                  </a:srgbClr>
                </a:solidFill>
                <a:latin typeface="Courier New" pitchFamily="34" charset="0"/>
                <a:ea typeface="Courier New" pitchFamily="34" charset="-122"/>
                <a:cs typeface="Courier New" pitchFamily="34" charset="-120"/>
              </a:rPr>
              <a:t># este bloque se ejecuta si la condicion es True </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 </a:t>
            </a:r>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else </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endParaRPr lang="en-US" sz="2100" dirty="0"/>
          </a:p>
          <a:p>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a:t>
            </a:r>
            <a:endParaRPr lang="en-US" sz="2100" dirty="0"/>
          </a:p>
          <a:p>
            <a:pPr algn="l" indent="0" marL="0">
              <a:lnSpc>
                <a:spcPct val="178065"/>
              </a:lnSpc>
              <a:buNone/>
            </a:pPr>
            <a:r>
              <a:rPr lang="en-US" sz="2100" i="1" dirty="0">
                <a:solidFill>
                  <a:srgbClr val="E9E9ED">
                    <a:alpha val="45000"/>
                  </a:srgbClr>
                </a:solidFill>
                <a:latin typeface="Courier New" pitchFamily="34" charset="0"/>
                <a:ea typeface="Courier New" pitchFamily="34" charset="-122"/>
                <a:cs typeface="Courier New" pitchFamily="34" charset="-120"/>
              </a:rPr>
              <a:t># este bloque se ejecuta si la condicion es False </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a:t>
            </a:r>
            <a:endParaRPr lang="en-US" sz="2100" dirty="0"/>
          </a:p>
        </p:txBody>
      </p:sp>
      <p:sp>
        <p:nvSpPr>
          <p:cNvPr id="7" name="Text 5"/>
          <p:cNvSpPr/>
          <p:nvPr/>
        </p:nvSpPr>
        <p:spPr>
          <a:xfrm>
            <a:off x="1143000" y="8309818"/>
            <a:ext cx="12551628" cy="675531"/>
          </a:xfrm>
          <a:prstGeom prst="rect">
            <a:avLst/>
          </a:prstGeom>
          <a:noFill/>
          <a:ln/>
        </p:spPr>
        <p:txBody>
          <a:bodyPr wrap="square" lIns="25400" tIns="25400" rIns="25400" bIns="25400" rtlCol="0" anchor="t">
            <a:normAutofit/>
          </a:bodyPr>
          <a:lstStyle/>
          <a:p>
            <a:pPr algn="l" indent="0" marL="0">
              <a:lnSpc>
                <a:spcPct val="154839"/>
              </a:lnSpc>
              <a:buNone/>
            </a:pPr>
            <a:r>
              <a:rPr lang="en-US" sz="1950" dirty="0">
                <a:solidFill>
                  <a:srgbClr val="E9E9ED">
                    <a:alpha val="55000"/>
                  </a:srgbClr>
                </a:solidFill>
                <a:latin typeface="Arial" pitchFamily="34" charset="0"/>
                <a:ea typeface="Arial" pitchFamily="34" charset="-122"/>
                <a:cs typeface="Arial" pitchFamily="34" charset="-120"/>
              </a:rPr>
              <a:t>Los dos puntos (:) y la sangría (indentación) son obligatorios: así Python sabe qué código pertenece a cada bloque.</a:t>
            </a:r>
            <a:endParaRPr lang="en-US" sz="1950" dirty="0"/>
          </a:p>
        </p:txBody>
      </p:sp>
      <p:pic>
        <p:nvPicPr>
          <p:cNvPr id="8" name="Image 0" descr="preencoded.png">    </p:cNvPr>
          <p:cNvPicPr>
            <a:picLocks noChangeAspect="1"/>
          </p:cNvPicPr>
          <p:nvPr/>
        </p:nvPicPr>
        <p:blipFill>
          <a:blip r:embed="rId1"/>
          <a:stretch>
            <a:fillRect/>
          </a:stretch>
        </p:blipFill>
        <p:spPr>
          <a:xfrm>
            <a:off x="13770025" y="9815810"/>
            <a:ext cx="3374975" cy="16639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82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B2741">
                  <a:alpha val="75000"/>
                </a:srgbClr>
              </a:gs>
              <a:gs pos="58000">
                <a:srgbClr val="2B2741">
                  <a:alpha val="0"/>
                </a:srgbClr>
              </a:gs>
            </a:gsLst>
            <a:path path="circle">
              <a:fillToRect l="80000" t="0" r="20000" b="100000"/>
            </a:path>
          </a:gradFill>
          <a:ln/>
        </p:spPr>
      </p:sp>
      <p:sp>
        <p:nvSpPr>
          <p:cNvPr id="3" name="Text 1"/>
          <p:cNvSpPr/>
          <p:nvPr/>
        </p:nvSpPr>
        <p:spPr>
          <a:xfrm>
            <a:off x="1143000" y="748010"/>
            <a:ext cx="4192965" cy="204490"/>
          </a:xfrm>
          <a:prstGeom prst="rect">
            <a:avLst/>
          </a:prstGeom>
          <a:noFill/>
          <a:ln/>
        </p:spPr>
        <p:txBody>
          <a:bodyPr wrap="square" lIns="25400" tIns="25400" rIns="25400" bIns="25400" rtlCol="0" anchor="t">
            <a:normAutofit/>
          </a:bodyPr>
          <a:lstStyle/>
          <a:p>
            <a:pPr algn="l" indent="0" marL="0">
              <a:lnSpc>
                <a:spcPct val="132857"/>
              </a:lnSpc>
              <a:buNone/>
            </a:pPr>
            <a:r>
              <a:rPr lang="en-US" sz="1800" spc="108" kern="0" dirty="0">
                <a:solidFill>
                  <a:srgbClr val="9184D9"/>
                </a:solidFill>
                <a:latin typeface="Arial" pitchFamily="34" charset="0"/>
                <a:ea typeface="Arial" pitchFamily="34" charset="-122"/>
                <a:cs typeface="Arial" pitchFamily="34" charset="-120"/>
              </a:rPr>
              <a:t>EJERCICIO 1 · MAYOR DE EDAD</a:t>
            </a:r>
            <a:endParaRPr lang="en-US" sz="1800" dirty="0"/>
          </a:p>
        </p:txBody>
      </p:sp>
      <p:sp>
        <p:nvSpPr>
          <p:cNvPr id="4" name="Text 2"/>
          <p:cNvSpPr/>
          <p:nvPr/>
        </p:nvSpPr>
        <p:spPr>
          <a:xfrm>
            <a:off x="1106537" y="1842492"/>
            <a:ext cx="17642309" cy="481608"/>
          </a:xfrm>
          <a:prstGeom prst="rect">
            <a:avLst/>
          </a:prstGeom>
          <a:noFill/>
          <a:ln/>
        </p:spPr>
        <p:txBody>
          <a:bodyPr wrap="square" lIns="25400" tIns="25400" rIns="25400" bIns="25400" rtlCol="0" anchor="t">
            <a:normAutofit/>
          </a:bodyPr>
          <a:lstStyle/>
          <a:p>
            <a:pPr algn="l" indent="0" marL="0">
              <a:lnSpc>
                <a:spcPct val="97297"/>
              </a:lnSpc>
              <a:buNone/>
            </a:pPr>
            <a:r>
              <a:rPr lang="en-US" sz="4800" spc="-72" kern="0" dirty="0">
                <a:solidFill>
                  <a:srgbClr val="E9E9ED"/>
                </a:solidFill>
                <a:latin typeface="Arial" pitchFamily="34" charset="0"/>
                <a:ea typeface="Arial" pitchFamily="34" charset="-122"/>
                <a:cs typeface="Arial" pitchFamily="34" charset="-120"/>
              </a:rPr>
              <a:t>Paso a paso: Mayor de edad</a:t>
            </a:r>
            <a:endParaRPr lang="en-US" sz="4800" dirty="0"/>
          </a:p>
        </p:txBody>
      </p:sp>
      <p:sp>
        <p:nvSpPr>
          <p:cNvPr id="5" name="Shape 3"/>
          <p:cNvSpPr/>
          <p:nvPr/>
        </p:nvSpPr>
        <p:spPr>
          <a:xfrm>
            <a:off x="1143000" y="3487341"/>
            <a:ext cx="14097000" cy="3562499"/>
          </a:xfrm>
          <a:prstGeom prst="roundRect">
            <a:avLst>
              <a:gd name="adj" fmla="val 2139"/>
            </a:avLst>
          </a:prstGeom>
          <a:solidFill>
            <a:srgbClr val="3F424D"/>
          </a:solidFill>
          <a:ln w="9525">
            <a:solidFill>
              <a:srgbClr val="E6E6EC">
                <a:alpha val="16000"/>
              </a:srgbClr>
            </a:solidFill>
            <a:prstDash val="solid"/>
          </a:ln>
          <a:effectLst>
            <a:outerShdw sx="100000" sy="100000" kx="0" ky="0" algn="bl" rotWithShape="0" blurRad="101600" dist="50800" dir="16200000">
              <a:srgbClr val="3F424D">
                <a:alpha val="100000"/>
              </a:srgbClr>
            </a:outerShdw>
          </a:effectLst>
        </p:spPr>
      </p:sp>
      <p:sp>
        <p:nvSpPr>
          <p:cNvPr id="6" name="Text 4"/>
          <p:cNvSpPr/>
          <p:nvPr/>
        </p:nvSpPr>
        <p:spPr>
          <a:xfrm>
            <a:off x="1533525" y="3954066"/>
            <a:ext cx="13738860" cy="2667149"/>
          </a:xfrm>
          <a:prstGeom prst="rect">
            <a:avLst/>
          </a:prstGeom>
          <a:noFill/>
          <a:ln/>
        </p:spPr>
        <p:txBody>
          <a:bodyPr wrap="none" lIns="25400" tIns="25400" rIns="25400" bIns="25400" rtlCol="0" anchor="t">
            <a:normAutofit/>
          </a:bodyPr>
          <a:lstStyle/>
          <a:p>
            <a:pPr algn="l" indent="0" marL="0">
              <a:lnSpc>
                <a:spcPct val="178065"/>
              </a:lnSpc>
              <a:buNone/>
            </a:pPr>
            <a:r>
              <a:rPr lang="en-US" sz="2100" dirty="0">
                <a:solidFill>
                  <a:srgbClr val="9184D9"/>
                </a:solidFill>
                <a:latin typeface="Courier New" pitchFamily="34" charset="0"/>
                <a:ea typeface="Courier New" pitchFamily="34" charset="-122"/>
                <a:cs typeface="Courier New" pitchFamily="34" charset="-120"/>
              </a:rPr>
              <a:t>edad</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 </a:t>
            </a:r>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int</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pPr algn="l" indent="0" marL="0">
              <a:lnSpc>
                <a:spcPct val="178065"/>
              </a:lnSpc>
              <a:buNone/>
            </a:pPr>
            <a:r>
              <a:rPr lang="en-US" sz="2100" dirty="0">
                <a:solidFill>
                  <a:srgbClr val="9184D9"/>
                </a:solidFill>
                <a:latin typeface="Courier New" pitchFamily="34" charset="0"/>
                <a:ea typeface="Courier New" pitchFamily="34" charset="-122"/>
                <a:cs typeface="Courier New" pitchFamily="34" charset="-120"/>
              </a:rPr>
              <a:t>input</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"Cuantos anios tenes? "</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a:t>
            </a:r>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if</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edad &gt;= </a:t>
            </a:r>
            <a:pPr algn="l" indent="0" marL="0">
              <a:lnSpc>
                <a:spcPct val="178065"/>
              </a:lnSpc>
              <a:buNone/>
            </a:pPr>
            <a:r>
              <a:rPr lang="en-US" sz="2100" dirty="0">
                <a:solidFill>
                  <a:srgbClr val="F3F5FE"/>
                </a:solidFill>
                <a:latin typeface="Courier New" pitchFamily="34" charset="0"/>
                <a:ea typeface="Courier New" pitchFamily="34" charset="-122"/>
                <a:cs typeface="Courier New" pitchFamily="34" charset="-120"/>
              </a:rPr>
              <a:t>18 </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endParaRPr lang="en-US" sz="2100" dirty="0"/>
          </a:p>
          <a:p>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a:t>
            </a:r>
            <a:endParaRPr lang="en-US" sz="2100" dirty="0"/>
          </a:p>
          <a:p>
            <a:pPr algn="l" indent="0" marL="0">
              <a:lnSpc>
                <a:spcPct val="178065"/>
              </a:lnSpc>
              <a:buNone/>
            </a:pPr>
            <a:r>
              <a:rPr lang="en-US" sz="2100" dirty="0">
                <a:solidFill>
                  <a:srgbClr val="9184D9"/>
                </a:solidFill>
                <a:latin typeface="Courier New" pitchFamily="34" charset="0"/>
                <a:ea typeface="Courier New" pitchFamily="34" charset="-122"/>
                <a:cs typeface="Courier New" pitchFamily="34" charset="-120"/>
              </a:rPr>
              <a:t>print</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"Sos mayor de edad"</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a:t>
            </a:r>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else </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endParaRPr lang="en-US" sz="2100" dirty="0"/>
          </a:p>
          <a:p>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a:t>
            </a:r>
            <a:endParaRPr lang="en-US" sz="2100" dirty="0"/>
          </a:p>
          <a:p>
            <a:pPr algn="l" indent="0" marL="0">
              <a:lnSpc>
                <a:spcPct val="178065"/>
              </a:lnSpc>
              <a:buNone/>
            </a:pPr>
            <a:r>
              <a:rPr lang="en-US" sz="2100" dirty="0">
                <a:solidFill>
                  <a:srgbClr val="9184D9"/>
                </a:solidFill>
                <a:latin typeface="Courier New" pitchFamily="34" charset="0"/>
                <a:ea typeface="Courier New" pitchFamily="34" charset="-122"/>
                <a:cs typeface="Courier New" pitchFamily="34" charset="-120"/>
              </a:rPr>
              <a:t>print</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"Sos menor de edad"</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endParaRPr lang="en-US" sz="2100" dirty="0"/>
          </a:p>
        </p:txBody>
      </p:sp>
      <p:pic>
        <p:nvPicPr>
          <p:cNvPr id="7" name="Image 0" descr="preencoded.png">    </p:cNvPr>
          <p:cNvPicPr>
            <a:picLocks noChangeAspect="1"/>
          </p:cNvPicPr>
          <p:nvPr/>
        </p:nvPicPr>
        <p:blipFill>
          <a:blip r:embed="rId1"/>
          <a:stretch>
            <a:fillRect/>
          </a:stretch>
        </p:blipFill>
        <p:spPr>
          <a:xfrm>
            <a:off x="13770025" y="9815810"/>
            <a:ext cx="3374975" cy="16639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82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B2741">
                  <a:alpha val="75000"/>
                </a:srgbClr>
              </a:gs>
              <a:gs pos="58000">
                <a:srgbClr val="2B2741">
                  <a:alpha val="0"/>
                </a:srgbClr>
              </a:gs>
            </a:gsLst>
            <a:path path="circle">
              <a:fillToRect l="80000" t="0" r="20000" b="100000"/>
            </a:path>
          </a:gradFill>
          <a:ln/>
        </p:spPr>
      </p:sp>
      <p:sp>
        <p:nvSpPr>
          <p:cNvPr id="3" name="Text 1"/>
          <p:cNvSpPr/>
          <p:nvPr/>
        </p:nvSpPr>
        <p:spPr>
          <a:xfrm>
            <a:off x="1143000" y="748010"/>
            <a:ext cx="4192965" cy="204490"/>
          </a:xfrm>
          <a:prstGeom prst="rect">
            <a:avLst/>
          </a:prstGeom>
          <a:noFill/>
          <a:ln/>
        </p:spPr>
        <p:txBody>
          <a:bodyPr wrap="square" lIns="25400" tIns="25400" rIns="25400" bIns="25400" rtlCol="0" anchor="t">
            <a:normAutofit/>
          </a:bodyPr>
          <a:lstStyle/>
          <a:p>
            <a:pPr algn="l" indent="0" marL="0">
              <a:lnSpc>
                <a:spcPct val="132857"/>
              </a:lnSpc>
              <a:buNone/>
            </a:pPr>
            <a:r>
              <a:rPr lang="en-US" sz="1800" spc="108" kern="0" dirty="0">
                <a:solidFill>
                  <a:srgbClr val="9184D9"/>
                </a:solidFill>
                <a:latin typeface="Arial" pitchFamily="34" charset="0"/>
                <a:ea typeface="Arial" pitchFamily="34" charset="-122"/>
                <a:cs typeface="Arial" pitchFamily="34" charset="-120"/>
              </a:rPr>
              <a:t>EJERCICIO 1 · MAYOR DE EDAD</a:t>
            </a:r>
            <a:endParaRPr lang="en-US" sz="1800" dirty="0"/>
          </a:p>
        </p:txBody>
      </p:sp>
      <p:sp>
        <p:nvSpPr>
          <p:cNvPr id="4" name="Text 2"/>
          <p:cNvSpPr/>
          <p:nvPr/>
        </p:nvSpPr>
        <p:spPr>
          <a:xfrm>
            <a:off x="1106537" y="1842492"/>
            <a:ext cx="17642309" cy="481608"/>
          </a:xfrm>
          <a:prstGeom prst="rect">
            <a:avLst/>
          </a:prstGeom>
          <a:noFill/>
          <a:ln/>
        </p:spPr>
        <p:txBody>
          <a:bodyPr wrap="square" lIns="25400" tIns="25400" rIns="25400" bIns="25400" rtlCol="0" anchor="t">
            <a:normAutofit/>
          </a:bodyPr>
          <a:lstStyle/>
          <a:p>
            <a:pPr algn="l" indent="0" marL="0">
              <a:lnSpc>
                <a:spcPct val="97297"/>
              </a:lnSpc>
              <a:buNone/>
            </a:pPr>
            <a:r>
              <a:rPr lang="en-US" sz="4800" spc="-72" kern="0" dirty="0">
                <a:solidFill>
                  <a:srgbClr val="E9E9ED"/>
                </a:solidFill>
                <a:latin typeface="Arial" pitchFamily="34" charset="0"/>
                <a:ea typeface="Arial" pitchFamily="34" charset="-122"/>
                <a:cs typeface="Arial" pitchFamily="34" charset="-120"/>
              </a:rPr>
              <a:t>Ejecución y seguimiento de variables</a:t>
            </a:r>
            <a:endParaRPr lang="en-US" sz="4800" dirty="0"/>
          </a:p>
        </p:txBody>
      </p:sp>
      <p:sp>
        <p:nvSpPr>
          <p:cNvPr id="5" name="Text 3"/>
          <p:cNvSpPr/>
          <p:nvPr/>
        </p:nvSpPr>
        <p:spPr>
          <a:xfrm>
            <a:off x="1143000" y="3570963"/>
            <a:ext cx="1296591" cy="196788"/>
          </a:xfrm>
          <a:prstGeom prst="rect">
            <a:avLst/>
          </a:prstGeom>
          <a:noFill/>
          <a:ln/>
        </p:spPr>
        <p:txBody>
          <a:bodyPr wrap="square" lIns="25400" tIns="25400" rIns="25400" bIns="25400" rtlCol="0" anchor="ctr">
            <a:normAutofit/>
          </a:bodyPr>
          <a:lstStyle/>
          <a:p>
            <a:pPr algn="l" indent="0" marL="0">
              <a:lnSpc>
                <a:spcPct val="132857"/>
              </a:lnSpc>
              <a:buNone/>
            </a:pPr>
            <a:r>
              <a:rPr lang="en-US" sz="1800" b="1" spc="144" kern="0" dirty="0">
                <a:solidFill>
                  <a:srgbClr val="E9E9ED">
                    <a:alpha val="60000"/>
                  </a:srgbClr>
                </a:solidFill>
                <a:latin typeface="Arial" pitchFamily="34" charset="0"/>
                <a:ea typeface="Arial" pitchFamily="34" charset="-122"/>
                <a:cs typeface="Arial" pitchFamily="34" charset="-120"/>
              </a:rPr>
              <a:t>ENTRADA</a:t>
            </a:r>
            <a:endParaRPr lang="en-US" sz="1800" dirty="0"/>
          </a:p>
        </p:txBody>
      </p:sp>
      <p:sp>
        <p:nvSpPr>
          <p:cNvPr id="6" name="Text 4"/>
          <p:cNvSpPr/>
          <p:nvPr/>
        </p:nvSpPr>
        <p:spPr>
          <a:xfrm>
            <a:off x="2896791" y="3570963"/>
            <a:ext cx="5621466" cy="196788"/>
          </a:xfrm>
          <a:prstGeom prst="rect">
            <a:avLst/>
          </a:prstGeom>
          <a:noFill/>
          <a:ln/>
        </p:spPr>
        <p:txBody>
          <a:bodyPr wrap="square" lIns="25400" tIns="25400" rIns="25400" bIns="25400" rtlCol="0" anchor="ctr">
            <a:normAutofit/>
          </a:bodyPr>
          <a:lstStyle/>
          <a:p>
            <a:pPr algn="l" indent="0" marL="0">
              <a:lnSpc>
                <a:spcPct val="132857"/>
              </a:lnSpc>
              <a:buNone/>
            </a:pPr>
            <a:r>
              <a:rPr lang="en-US" sz="1800" b="1" spc="144" kern="0" dirty="0">
                <a:solidFill>
                  <a:srgbClr val="E9E9ED">
                    <a:alpha val="60000"/>
                  </a:srgbClr>
                </a:solidFill>
                <a:latin typeface="Arial" pitchFamily="34" charset="0"/>
                <a:ea typeface="Arial" pitchFamily="34" charset="-122"/>
                <a:cs typeface="Arial" pitchFamily="34" charset="-120"/>
              </a:rPr>
              <a:t>VALOR DE EDAD</a:t>
            </a:r>
            <a:endParaRPr lang="en-US" sz="1800" dirty="0"/>
          </a:p>
        </p:txBody>
      </p:sp>
      <p:sp>
        <p:nvSpPr>
          <p:cNvPr id="7" name="Text 5"/>
          <p:cNvSpPr/>
          <p:nvPr/>
        </p:nvSpPr>
        <p:spPr>
          <a:xfrm>
            <a:off x="8872389" y="3570963"/>
            <a:ext cx="6566641" cy="196788"/>
          </a:xfrm>
          <a:prstGeom prst="rect">
            <a:avLst/>
          </a:prstGeom>
          <a:noFill/>
          <a:ln/>
        </p:spPr>
        <p:txBody>
          <a:bodyPr wrap="square" lIns="25400" tIns="25400" rIns="25400" bIns="25400" rtlCol="0" anchor="ctr">
            <a:normAutofit/>
          </a:bodyPr>
          <a:lstStyle/>
          <a:p>
            <a:pPr algn="l" indent="0" marL="0">
              <a:lnSpc>
                <a:spcPct val="132857"/>
              </a:lnSpc>
              <a:buNone/>
            </a:pPr>
            <a:r>
              <a:rPr lang="en-US" sz="1800" b="1" spc="144" kern="0" dirty="0">
                <a:solidFill>
                  <a:srgbClr val="E9E9ED">
                    <a:alpha val="60000"/>
                  </a:srgbClr>
                </a:solidFill>
                <a:latin typeface="Arial" pitchFamily="34" charset="0"/>
                <a:ea typeface="Arial" pitchFamily="34" charset="-122"/>
                <a:cs typeface="Arial" pitchFamily="34" charset="-120"/>
              </a:rPr>
              <a:t>SALIDA</a:t>
            </a:r>
            <a:endParaRPr lang="en-US" sz="1800" dirty="0"/>
          </a:p>
        </p:txBody>
      </p:sp>
      <p:sp>
        <p:nvSpPr>
          <p:cNvPr id="8" name="Text 6"/>
          <p:cNvSpPr/>
          <p:nvPr/>
        </p:nvSpPr>
        <p:spPr>
          <a:xfrm>
            <a:off x="1143000" y="4458230"/>
            <a:ext cx="1296591" cy="245846"/>
          </a:xfrm>
          <a:prstGeom prst="rect">
            <a:avLst/>
          </a:prstGeom>
          <a:noFill/>
          <a:ln/>
        </p:spPr>
        <p:txBody>
          <a:bodyPr wrap="square" lIns="25400" tIns="25400" rIns="25400" bIns="25400" rtlCol="0" anchor="ctr">
            <a:normAutofit/>
          </a:bodyPr>
          <a:lstStyle/>
          <a:p>
            <a:pPr algn="l" indent="0" marL="0">
              <a:lnSpc>
                <a:spcPct val="136765"/>
              </a:lnSpc>
              <a:buNone/>
            </a:pPr>
            <a:r>
              <a:rPr lang="en-US" sz="2250" dirty="0">
                <a:solidFill>
                  <a:srgbClr val="E9E9ED"/>
                </a:solidFill>
                <a:latin typeface="Arial" pitchFamily="34" charset="0"/>
                <a:ea typeface="Arial" pitchFamily="34" charset="-122"/>
                <a:cs typeface="Arial" pitchFamily="34" charset="-120"/>
              </a:rPr>
              <a:t>20</a:t>
            </a:r>
            <a:endParaRPr lang="en-US" sz="2250" dirty="0"/>
          </a:p>
        </p:txBody>
      </p:sp>
      <p:sp>
        <p:nvSpPr>
          <p:cNvPr id="9" name="Text 7"/>
          <p:cNvSpPr/>
          <p:nvPr/>
        </p:nvSpPr>
        <p:spPr>
          <a:xfrm>
            <a:off x="2896791" y="4458230"/>
            <a:ext cx="5621466" cy="245846"/>
          </a:xfrm>
          <a:prstGeom prst="rect">
            <a:avLst/>
          </a:prstGeom>
          <a:noFill/>
          <a:ln/>
        </p:spPr>
        <p:txBody>
          <a:bodyPr wrap="square" lIns="25400" tIns="25400" rIns="25400" bIns="25400" rtlCol="0" anchor="ctr">
            <a:normAutofit/>
          </a:bodyPr>
          <a:lstStyle/>
          <a:p>
            <a:pPr algn="l" indent="0" marL="0">
              <a:lnSpc>
                <a:spcPct val="136765"/>
              </a:lnSpc>
              <a:buNone/>
            </a:pPr>
            <a:r>
              <a:rPr lang="en-US" sz="2250" dirty="0">
                <a:solidFill>
                  <a:srgbClr val="E9E9ED"/>
                </a:solidFill>
                <a:latin typeface="Arial" pitchFamily="34" charset="0"/>
                <a:ea typeface="Arial" pitchFamily="34" charset="-122"/>
                <a:cs typeface="Arial" pitchFamily="34" charset="-120"/>
              </a:rPr>
              <a:t>20 (int)</a:t>
            </a:r>
            <a:endParaRPr lang="en-US" sz="2250" dirty="0"/>
          </a:p>
        </p:txBody>
      </p:sp>
      <p:sp>
        <p:nvSpPr>
          <p:cNvPr id="10" name="Text 8"/>
          <p:cNvSpPr/>
          <p:nvPr/>
        </p:nvSpPr>
        <p:spPr>
          <a:xfrm>
            <a:off x="8872389" y="4458230"/>
            <a:ext cx="6566641" cy="245846"/>
          </a:xfrm>
          <a:prstGeom prst="rect">
            <a:avLst/>
          </a:prstGeom>
          <a:noFill/>
          <a:ln/>
        </p:spPr>
        <p:txBody>
          <a:bodyPr wrap="square" lIns="25400" tIns="25400" rIns="25400" bIns="25400" rtlCol="0" anchor="ctr">
            <a:normAutofit/>
          </a:bodyPr>
          <a:lstStyle/>
          <a:p>
            <a:pPr algn="l" indent="0" marL="0">
              <a:lnSpc>
                <a:spcPct val="136765"/>
              </a:lnSpc>
              <a:buNone/>
            </a:pPr>
            <a:r>
              <a:rPr lang="en-US" sz="2250" dirty="0">
                <a:solidFill>
                  <a:srgbClr val="E9E9ED"/>
                </a:solidFill>
                <a:latin typeface="Arial" pitchFamily="34" charset="0"/>
                <a:ea typeface="Arial" pitchFamily="34" charset="-122"/>
                <a:cs typeface="Arial" pitchFamily="34" charset="-120"/>
              </a:rPr>
              <a:t>Sos mayor de edad</a:t>
            </a:r>
            <a:endParaRPr lang="en-US" sz="2250" dirty="0"/>
          </a:p>
        </p:txBody>
      </p:sp>
      <p:sp>
        <p:nvSpPr>
          <p:cNvPr id="11" name="Text 9"/>
          <p:cNvSpPr/>
          <p:nvPr/>
        </p:nvSpPr>
        <p:spPr>
          <a:xfrm>
            <a:off x="1143000" y="5372481"/>
            <a:ext cx="1296591" cy="245846"/>
          </a:xfrm>
          <a:prstGeom prst="rect">
            <a:avLst/>
          </a:prstGeom>
          <a:noFill/>
          <a:ln/>
        </p:spPr>
        <p:txBody>
          <a:bodyPr wrap="square" lIns="25400" tIns="25400" rIns="25400" bIns="25400" rtlCol="0" anchor="ctr">
            <a:normAutofit/>
          </a:bodyPr>
          <a:lstStyle/>
          <a:p>
            <a:pPr algn="l" indent="0" marL="0">
              <a:lnSpc>
                <a:spcPct val="136765"/>
              </a:lnSpc>
              <a:buNone/>
            </a:pPr>
            <a:r>
              <a:rPr lang="en-US" sz="2250" dirty="0">
                <a:solidFill>
                  <a:srgbClr val="E9E9ED"/>
                </a:solidFill>
                <a:latin typeface="Arial" pitchFamily="34" charset="0"/>
                <a:ea typeface="Arial" pitchFamily="34" charset="-122"/>
                <a:cs typeface="Arial" pitchFamily="34" charset="-120"/>
              </a:rPr>
              <a:t>15</a:t>
            </a:r>
            <a:endParaRPr lang="en-US" sz="2250" dirty="0"/>
          </a:p>
        </p:txBody>
      </p:sp>
      <p:sp>
        <p:nvSpPr>
          <p:cNvPr id="12" name="Text 10"/>
          <p:cNvSpPr/>
          <p:nvPr/>
        </p:nvSpPr>
        <p:spPr>
          <a:xfrm>
            <a:off x="2896791" y="5372481"/>
            <a:ext cx="5621466" cy="245846"/>
          </a:xfrm>
          <a:prstGeom prst="rect">
            <a:avLst/>
          </a:prstGeom>
          <a:noFill/>
          <a:ln/>
        </p:spPr>
        <p:txBody>
          <a:bodyPr wrap="square" lIns="25400" tIns="25400" rIns="25400" bIns="25400" rtlCol="0" anchor="ctr">
            <a:normAutofit/>
          </a:bodyPr>
          <a:lstStyle/>
          <a:p>
            <a:pPr algn="l" indent="0" marL="0">
              <a:lnSpc>
                <a:spcPct val="136765"/>
              </a:lnSpc>
              <a:buNone/>
            </a:pPr>
            <a:r>
              <a:rPr lang="en-US" sz="2250" dirty="0">
                <a:solidFill>
                  <a:srgbClr val="E9E9ED"/>
                </a:solidFill>
                <a:latin typeface="Arial" pitchFamily="34" charset="0"/>
                <a:ea typeface="Arial" pitchFamily="34" charset="-122"/>
                <a:cs typeface="Arial" pitchFamily="34" charset="-120"/>
              </a:rPr>
              <a:t>15 (int)</a:t>
            </a:r>
            <a:endParaRPr lang="en-US" sz="2250" dirty="0"/>
          </a:p>
        </p:txBody>
      </p:sp>
      <p:sp>
        <p:nvSpPr>
          <p:cNvPr id="13" name="Text 11"/>
          <p:cNvSpPr/>
          <p:nvPr/>
        </p:nvSpPr>
        <p:spPr>
          <a:xfrm>
            <a:off x="8872389" y="5372481"/>
            <a:ext cx="6566641" cy="245846"/>
          </a:xfrm>
          <a:prstGeom prst="rect">
            <a:avLst/>
          </a:prstGeom>
          <a:noFill/>
          <a:ln/>
        </p:spPr>
        <p:txBody>
          <a:bodyPr wrap="square" lIns="25400" tIns="25400" rIns="25400" bIns="25400" rtlCol="0" anchor="ctr">
            <a:normAutofit/>
          </a:bodyPr>
          <a:lstStyle/>
          <a:p>
            <a:pPr algn="l" indent="0" marL="0">
              <a:lnSpc>
                <a:spcPct val="136765"/>
              </a:lnSpc>
              <a:buNone/>
            </a:pPr>
            <a:r>
              <a:rPr lang="en-US" sz="2250" dirty="0">
                <a:solidFill>
                  <a:srgbClr val="E9E9ED"/>
                </a:solidFill>
                <a:latin typeface="Arial" pitchFamily="34" charset="0"/>
                <a:ea typeface="Arial" pitchFamily="34" charset="-122"/>
                <a:cs typeface="Arial" pitchFamily="34" charset="-120"/>
              </a:rPr>
              <a:t>Sos menor de edad</a:t>
            </a:r>
            <a:endParaRPr lang="en-US" sz="2250" dirty="0"/>
          </a:p>
        </p:txBody>
      </p:sp>
      <p:sp>
        <p:nvSpPr>
          <p:cNvPr id="14" name="Text 12"/>
          <p:cNvSpPr/>
          <p:nvPr/>
        </p:nvSpPr>
        <p:spPr>
          <a:xfrm>
            <a:off x="1143000" y="6286732"/>
            <a:ext cx="1296591" cy="245846"/>
          </a:xfrm>
          <a:prstGeom prst="rect">
            <a:avLst/>
          </a:prstGeom>
          <a:noFill/>
          <a:ln/>
        </p:spPr>
        <p:txBody>
          <a:bodyPr wrap="square" lIns="25400" tIns="25400" rIns="25400" bIns="25400" rtlCol="0" anchor="ctr">
            <a:normAutofit/>
          </a:bodyPr>
          <a:lstStyle/>
          <a:p>
            <a:pPr algn="l" indent="0" marL="0">
              <a:lnSpc>
                <a:spcPct val="136765"/>
              </a:lnSpc>
              <a:buNone/>
            </a:pPr>
            <a:r>
              <a:rPr lang="en-US" sz="2250" dirty="0">
                <a:solidFill>
                  <a:srgbClr val="E9E9ED"/>
                </a:solidFill>
                <a:latin typeface="Arial" pitchFamily="34" charset="0"/>
                <a:ea typeface="Arial" pitchFamily="34" charset="-122"/>
                <a:cs typeface="Arial" pitchFamily="34" charset="-120"/>
              </a:rPr>
              <a:t>18</a:t>
            </a:r>
            <a:endParaRPr lang="en-US" sz="2250" dirty="0"/>
          </a:p>
        </p:txBody>
      </p:sp>
      <p:sp>
        <p:nvSpPr>
          <p:cNvPr id="15" name="Text 13"/>
          <p:cNvSpPr/>
          <p:nvPr/>
        </p:nvSpPr>
        <p:spPr>
          <a:xfrm>
            <a:off x="2896791" y="6286732"/>
            <a:ext cx="5621466" cy="245846"/>
          </a:xfrm>
          <a:prstGeom prst="rect">
            <a:avLst/>
          </a:prstGeom>
          <a:noFill/>
          <a:ln/>
        </p:spPr>
        <p:txBody>
          <a:bodyPr wrap="square" lIns="25400" tIns="25400" rIns="25400" bIns="25400" rtlCol="0" anchor="ctr">
            <a:normAutofit/>
          </a:bodyPr>
          <a:lstStyle/>
          <a:p>
            <a:pPr algn="l" indent="0" marL="0">
              <a:lnSpc>
                <a:spcPct val="136765"/>
              </a:lnSpc>
              <a:buNone/>
            </a:pPr>
            <a:r>
              <a:rPr lang="en-US" sz="2250" dirty="0">
                <a:solidFill>
                  <a:srgbClr val="E9E9ED"/>
                </a:solidFill>
                <a:latin typeface="Arial" pitchFamily="34" charset="0"/>
                <a:ea typeface="Arial" pitchFamily="34" charset="-122"/>
                <a:cs typeface="Arial" pitchFamily="34" charset="-120"/>
              </a:rPr>
              <a:t>18 (int)</a:t>
            </a:r>
            <a:endParaRPr lang="en-US" sz="2250" dirty="0"/>
          </a:p>
        </p:txBody>
      </p:sp>
      <p:sp>
        <p:nvSpPr>
          <p:cNvPr id="16" name="Text 14"/>
          <p:cNvSpPr/>
          <p:nvPr/>
        </p:nvSpPr>
        <p:spPr>
          <a:xfrm>
            <a:off x="8872389" y="6286732"/>
            <a:ext cx="6566641" cy="245846"/>
          </a:xfrm>
          <a:prstGeom prst="rect">
            <a:avLst/>
          </a:prstGeom>
          <a:noFill/>
          <a:ln/>
        </p:spPr>
        <p:txBody>
          <a:bodyPr wrap="square" lIns="25400" tIns="25400" rIns="25400" bIns="25400" rtlCol="0" anchor="ctr">
            <a:normAutofit/>
          </a:bodyPr>
          <a:lstStyle/>
          <a:p>
            <a:pPr algn="l" indent="0" marL="0">
              <a:lnSpc>
                <a:spcPct val="136765"/>
              </a:lnSpc>
              <a:buNone/>
            </a:pPr>
            <a:r>
              <a:rPr lang="en-US" sz="2250" dirty="0">
                <a:solidFill>
                  <a:srgbClr val="E9E9ED"/>
                </a:solidFill>
                <a:latin typeface="Arial" pitchFamily="34" charset="0"/>
                <a:ea typeface="Arial" pitchFamily="34" charset="-122"/>
                <a:cs typeface="Arial" pitchFamily="34" charset="-120"/>
              </a:rPr>
              <a:t>Sos mayor de edad</a:t>
            </a:r>
            <a:endParaRPr lang="en-US" sz="2250" dirty="0"/>
          </a:p>
        </p:txBody>
      </p:sp>
      <p:sp>
        <p:nvSpPr>
          <p:cNvPr id="17" name="Text 15"/>
          <p:cNvSpPr/>
          <p:nvPr/>
        </p:nvSpPr>
        <p:spPr>
          <a:xfrm>
            <a:off x="1143000" y="7591425"/>
            <a:ext cx="13404652" cy="218331"/>
          </a:xfrm>
          <a:prstGeom prst="rect">
            <a:avLst/>
          </a:prstGeom>
          <a:noFill/>
          <a:ln/>
        </p:spPr>
        <p:txBody>
          <a:bodyPr wrap="square" lIns="25400" tIns="25400" rIns="25400" bIns="25400" rtlCol="0" anchor="t">
            <a:normAutofit/>
          </a:bodyPr>
          <a:lstStyle/>
          <a:p>
            <a:pPr algn="l" indent="0" marL="0">
              <a:lnSpc>
                <a:spcPct val="154839"/>
              </a:lnSpc>
              <a:buNone/>
            </a:pPr>
            <a:r>
              <a:rPr lang="en-US" sz="1950" dirty="0">
                <a:solidFill>
                  <a:srgbClr val="E9E9ED">
                    <a:alpha val="55000"/>
                  </a:srgbClr>
                </a:solidFill>
                <a:latin typeface="Arial" pitchFamily="34" charset="0"/>
                <a:ea typeface="Arial" pitchFamily="34" charset="-122"/>
                <a:cs typeface="Arial" pitchFamily="34" charset="-120"/>
              </a:rPr>
              <a:t>Con 18 años también da "Sos mayor de edad" porque el operador es &gt;= (mayor o igual).</a:t>
            </a:r>
            <a:endParaRPr lang="en-US" sz="1950" dirty="0"/>
          </a:p>
        </p:txBody>
      </p:sp>
      <p:pic>
        <p:nvPicPr>
          <p:cNvPr id="18" name="Image 0" descr="preencoded.png">    </p:cNvPr>
          <p:cNvPicPr>
            <a:picLocks noChangeAspect="1"/>
          </p:cNvPicPr>
          <p:nvPr/>
        </p:nvPicPr>
        <p:blipFill>
          <a:blip r:embed="rId1"/>
          <a:stretch>
            <a:fillRect/>
          </a:stretch>
        </p:blipFill>
        <p:spPr>
          <a:xfrm>
            <a:off x="13770025" y="9815810"/>
            <a:ext cx="3374975" cy="16639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82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B2741">
                  <a:alpha val="75000"/>
                </a:srgbClr>
              </a:gs>
              <a:gs pos="58000">
                <a:srgbClr val="2B2741">
                  <a:alpha val="0"/>
                </a:srgbClr>
              </a:gs>
            </a:gsLst>
            <a:path path="circle">
              <a:fillToRect l="80000" t="0" r="20000" b="100000"/>
            </a:path>
          </a:gradFill>
          <a:ln/>
        </p:spPr>
      </p:sp>
      <p:sp>
        <p:nvSpPr>
          <p:cNvPr id="3" name="Text 1"/>
          <p:cNvSpPr/>
          <p:nvPr/>
        </p:nvSpPr>
        <p:spPr>
          <a:xfrm>
            <a:off x="1143000" y="748010"/>
            <a:ext cx="4192965" cy="204490"/>
          </a:xfrm>
          <a:prstGeom prst="rect">
            <a:avLst/>
          </a:prstGeom>
          <a:noFill/>
          <a:ln/>
        </p:spPr>
        <p:txBody>
          <a:bodyPr wrap="square" lIns="25400" tIns="25400" rIns="25400" bIns="25400" rtlCol="0" anchor="t">
            <a:normAutofit/>
          </a:bodyPr>
          <a:lstStyle/>
          <a:p>
            <a:pPr algn="l" indent="0" marL="0">
              <a:lnSpc>
                <a:spcPct val="132857"/>
              </a:lnSpc>
              <a:buNone/>
            </a:pPr>
            <a:r>
              <a:rPr lang="en-US" sz="1800" spc="108" kern="0" dirty="0">
                <a:solidFill>
                  <a:srgbClr val="9184D9"/>
                </a:solidFill>
                <a:latin typeface="Arial" pitchFamily="34" charset="0"/>
                <a:ea typeface="Arial" pitchFamily="34" charset="-122"/>
                <a:cs typeface="Arial" pitchFamily="34" charset="-120"/>
              </a:rPr>
              <a:t>EJERCICIO 1 · MAYOR DE EDAD</a:t>
            </a:r>
            <a:endParaRPr lang="en-US" sz="1800" dirty="0"/>
          </a:p>
        </p:txBody>
      </p:sp>
      <p:sp>
        <p:nvSpPr>
          <p:cNvPr id="4" name="Text 2"/>
          <p:cNvSpPr/>
          <p:nvPr/>
        </p:nvSpPr>
        <p:spPr>
          <a:xfrm>
            <a:off x="1106537" y="1842492"/>
            <a:ext cx="17642309" cy="481608"/>
          </a:xfrm>
          <a:prstGeom prst="rect">
            <a:avLst/>
          </a:prstGeom>
          <a:noFill/>
          <a:ln/>
        </p:spPr>
        <p:txBody>
          <a:bodyPr wrap="square" lIns="25400" tIns="25400" rIns="25400" bIns="25400" rtlCol="0" anchor="t">
            <a:normAutofit/>
          </a:bodyPr>
          <a:lstStyle/>
          <a:p>
            <a:pPr algn="l" indent="0" marL="0">
              <a:lnSpc>
                <a:spcPct val="97297"/>
              </a:lnSpc>
              <a:buNone/>
            </a:pPr>
            <a:r>
              <a:rPr lang="en-US" sz="4800" spc="-72" kern="0" dirty="0">
                <a:solidFill>
                  <a:srgbClr val="E9E9ED"/>
                </a:solidFill>
                <a:latin typeface="Arial" pitchFamily="34" charset="0"/>
                <a:ea typeface="Arial" pitchFamily="34" charset="-122"/>
                <a:cs typeface="Arial" pitchFamily="34" charset="-120"/>
              </a:rPr>
              <a:t>Errores frecuentes</a:t>
            </a:r>
            <a:endParaRPr lang="en-US" sz="4800" dirty="0"/>
          </a:p>
        </p:txBody>
      </p:sp>
      <p:sp>
        <p:nvSpPr>
          <p:cNvPr id="5" name="Text 3"/>
          <p:cNvSpPr/>
          <p:nvPr/>
        </p:nvSpPr>
        <p:spPr>
          <a:xfrm>
            <a:off x="1143000" y="3421856"/>
            <a:ext cx="12363450" cy="273695"/>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Olvidar los dos puntos </a:t>
            </a:r>
            <a:pPr algn="l" indent="0" marL="0">
              <a:lnSpc>
                <a:spcPct val="123077"/>
              </a:lnSpc>
              <a:buNone/>
            </a:pPr>
            <a:r>
              <a:rPr lang="en-US" sz="2550" b="1" dirty="0">
                <a:solidFill>
                  <a:srgbClr val="E9E9ED"/>
                </a:solidFill>
                <a:latin typeface="Arial" pitchFamily="34" charset="0"/>
                <a:ea typeface="Arial" pitchFamily="34" charset="-122"/>
                <a:cs typeface="Arial" pitchFamily="34" charset="-120"/>
              </a:rPr>
              <a:t>: </a:t>
            </a:r>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al final del if o del else → </a:t>
            </a:r>
            <a:pPr algn="l" indent="0" marL="0">
              <a:lnSpc>
                <a:spcPct val="123077"/>
              </a:lnSpc>
              <a:buNone/>
            </a:pPr>
            <a:r>
              <a:rPr lang="en-US" sz="2550" b="1" dirty="0">
                <a:solidFill>
                  <a:srgbClr val="E9E9ED"/>
                </a:solidFill>
                <a:latin typeface="Arial" pitchFamily="34" charset="0"/>
                <a:ea typeface="Arial" pitchFamily="34" charset="-122"/>
                <a:cs typeface="Arial" pitchFamily="34" charset="-120"/>
              </a:rPr>
              <a:t>SyntaxError</a:t>
            </a:r>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a:t>
            </a:r>
            <a:endParaRPr lang="en-US" sz="2550" dirty="0"/>
          </a:p>
        </p:txBody>
      </p:sp>
      <p:sp>
        <p:nvSpPr>
          <p:cNvPr id="6" name="Text 4"/>
          <p:cNvSpPr/>
          <p:nvPr/>
        </p:nvSpPr>
        <p:spPr>
          <a:xfrm>
            <a:off x="1143000" y="4336107"/>
            <a:ext cx="12363450" cy="273695"/>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Indentar mal el print (espacios distintos entre líneas) → </a:t>
            </a:r>
            <a:pPr algn="l" indent="0" marL="0">
              <a:lnSpc>
                <a:spcPct val="123077"/>
              </a:lnSpc>
              <a:buNone/>
            </a:pPr>
            <a:r>
              <a:rPr lang="en-US" sz="2550" b="1" dirty="0">
                <a:solidFill>
                  <a:srgbClr val="E9E9ED"/>
                </a:solidFill>
                <a:latin typeface="Arial" pitchFamily="34" charset="0"/>
                <a:ea typeface="Arial" pitchFamily="34" charset="-122"/>
                <a:cs typeface="Arial" pitchFamily="34" charset="-120"/>
              </a:rPr>
              <a:t>IndentationError</a:t>
            </a:r>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a:t>
            </a:r>
            <a:endParaRPr lang="en-US" sz="2550" dirty="0"/>
          </a:p>
        </p:txBody>
      </p:sp>
      <p:sp>
        <p:nvSpPr>
          <p:cNvPr id="7" name="Text 5"/>
          <p:cNvSpPr/>
          <p:nvPr/>
        </p:nvSpPr>
        <p:spPr>
          <a:xfrm>
            <a:off x="1143000" y="5250359"/>
            <a:ext cx="11576685" cy="730895"/>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Olvidar convertir con </a:t>
            </a:r>
            <a:pPr algn="l" indent="0" marL="0">
              <a:lnSpc>
                <a:spcPct val="123077"/>
              </a:lnSpc>
              <a:buNone/>
            </a:pPr>
            <a:r>
              <a:rPr lang="en-US" sz="2550" b="1" dirty="0">
                <a:solidFill>
                  <a:srgbClr val="E9E9ED"/>
                </a:solidFill>
                <a:latin typeface="Arial" pitchFamily="34" charset="0"/>
                <a:ea typeface="Arial" pitchFamily="34" charset="-122"/>
                <a:cs typeface="Arial" pitchFamily="34" charset="-120"/>
              </a:rPr>
              <a:t>int() </a:t>
            </a:r>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 input() siempre devuelve texto, y comparar texto con un número da error.</a:t>
            </a:r>
            <a:endParaRPr lang="en-US" sz="2550" dirty="0"/>
          </a:p>
        </p:txBody>
      </p:sp>
      <p:pic>
        <p:nvPicPr>
          <p:cNvPr id="8" name="Image 0" descr="preencoded.png">    </p:cNvPr>
          <p:cNvPicPr>
            <a:picLocks noChangeAspect="1"/>
          </p:cNvPicPr>
          <p:nvPr/>
        </p:nvPicPr>
        <p:blipFill>
          <a:blip r:embed="rId1"/>
          <a:stretch>
            <a:fillRect/>
          </a:stretch>
        </p:blipFill>
        <p:spPr>
          <a:xfrm>
            <a:off x="13770025" y="9815810"/>
            <a:ext cx="3374975" cy="16639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82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B2741">
                  <a:alpha val="75000"/>
                </a:srgbClr>
              </a:gs>
              <a:gs pos="58000">
                <a:srgbClr val="2B2741">
                  <a:alpha val="0"/>
                </a:srgbClr>
              </a:gs>
            </a:gsLst>
            <a:path path="circle">
              <a:fillToRect l="80000" t="0" r="20000" b="100000"/>
            </a:path>
          </a:gradFill>
          <a:ln/>
        </p:spPr>
      </p:sp>
      <p:sp>
        <p:nvSpPr>
          <p:cNvPr id="3" name="Text 1"/>
          <p:cNvSpPr/>
          <p:nvPr/>
        </p:nvSpPr>
        <p:spPr>
          <a:xfrm>
            <a:off x="1143000" y="748010"/>
            <a:ext cx="4799514" cy="204490"/>
          </a:xfrm>
          <a:prstGeom prst="rect">
            <a:avLst/>
          </a:prstGeom>
          <a:noFill/>
          <a:ln/>
        </p:spPr>
        <p:txBody>
          <a:bodyPr wrap="square" lIns="25400" tIns="25400" rIns="25400" bIns="25400" rtlCol="0" anchor="t">
            <a:normAutofit/>
          </a:bodyPr>
          <a:lstStyle/>
          <a:p>
            <a:pPr algn="l" indent="0" marL="0">
              <a:lnSpc>
                <a:spcPct val="132857"/>
              </a:lnSpc>
              <a:buNone/>
            </a:pPr>
            <a:r>
              <a:rPr lang="en-US" sz="1800" spc="108" kern="0" dirty="0">
                <a:solidFill>
                  <a:srgbClr val="9184D9"/>
                </a:solidFill>
                <a:latin typeface="Arial" pitchFamily="34" charset="0"/>
                <a:ea typeface="Arial" pitchFamily="34" charset="-122"/>
                <a:cs typeface="Arial" pitchFamily="34" charset="-120"/>
              </a:rPr>
              <a:t>EJERCICIO 2 · APROBÓ LA MATERIA</a:t>
            </a:r>
            <a:endParaRPr lang="en-US" sz="1800" dirty="0"/>
          </a:p>
        </p:txBody>
      </p:sp>
      <p:sp>
        <p:nvSpPr>
          <p:cNvPr id="4" name="Text 2"/>
          <p:cNvSpPr/>
          <p:nvPr/>
        </p:nvSpPr>
        <p:spPr>
          <a:xfrm>
            <a:off x="1106537" y="1842492"/>
            <a:ext cx="17642309" cy="481608"/>
          </a:xfrm>
          <a:prstGeom prst="rect">
            <a:avLst/>
          </a:prstGeom>
          <a:noFill/>
          <a:ln/>
        </p:spPr>
        <p:txBody>
          <a:bodyPr wrap="square" lIns="25400" tIns="25400" rIns="25400" bIns="25400" rtlCol="0" anchor="t">
            <a:normAutofit/>
          </a:bodyPr>
          <a:lstStyle/>
          <a:p>
            <a:pPr algn="l" indent="0" marL="0">
              <a:lnSpc>
                <a:spcPct val="97297"/>
              </a:lnSpc>
              <a:buNone/>
            </a:pPr>
            <a:r>
              <a:rPr lang="en-US" sz="4800" spc="-72" kern="0" dirty="0">
                <a:solidFill>
                  <a:srgbClr val="E9E9ED"/>
                </a:solidFill>
                <a:latin typeface="Arial" pitchFamily="34" charset="0"/>
                <a:ea typeface="Arial" pitchFamily="34" charset="-122"/>
                <a:cs typeface="Arial" pitchFamily="34" charset="-120"/>
              </a:rPr>
              <a:t>Código y ejecución</a:t>
            </a:r>
            <a:endParaRPr lang="en-US" sz="4800" dirty="0"/>
          </a:p>
        </p:txBody>
      </p:sp>
      <p:sp>
        <p:nvSpPr>
          <p:cNvPr id="5" name="Shape 3"/>
          <p:cNvSpPr/>
          <p:nvPr/>
        </p:nvSpPr>
        <p:spPr>
          <a:xfrm>
            <a:off x="1143000" y="3487341"/>
            <a:ext cx="14097000" cy="3562499"/>
          </a:xfrm>
          <a:prstGeom prst="roundRect">
            <a:avLst>
              <a:gd name="adj" fmla="val 2139"/>
            </a:avLst>
          </a:prstGeom>
          <a:solidFill>
            <a:srgbClr val="3F424D"/>
          </a:solidFill>
          <a:ln w="9525">
            <a:solidFill>
              <a:srgbClr val="E6E6EC">
                <a:alpha val="16000"/>
              </a:srgbClr>
            </a:solidFill>
            <a:prstDash val="solid"/>
          </a:ln>
          <a:effectLst>
            <a:outerShdw sx="100000" sy="100000" kx="0" ky="0" algn="bl" rotWithShape="0" blurRad="101600" dist="50800" dir="16200000">
              <a:srgbClr val="3F424D">
                <a:alpha val="100000"/>
              </a:srgbClr>
            </a:outerShdw>
          </a:effectLst>
        </p:spPr>
      </p:sp>
      <p:sp>
        <p:nvSpPr>
          <p:cNvPr id="6" name="Text 4"/>
          <p:cNvSpPr/>
          <p:nvPr/>
        </p:nvSpPr>
        <p:spPr>
          <a:xfrm>
            <a:off x="1533525" y="3954066"/>
            <a:ext cx="13738860" cy="2667149"/>
          </a:xfrm>
          <a:prstGeom prst="rect">
            <a:avLst/>
          </a:prstGeom>
          <a:noFill/>
          <a:ln/>
        </p:spPr>
        <p:txBody>
          <a:bodyPr wrap="none" lIns="25400" tIns="25400" rIns="25400" bIns="25400" rtlCol="0" anchor="t">
            <a:normAutofit/>
          </a:bodyPr>
          <a:lstStyle/>
          <a:p>
            <a:pPr algn="l" indent="0" marL="0">
              <a:lnSpc>
                <a:spcPct val="178065"/>
              </a:lnSpc>
              <a:buNone/>
            </a:pPr>
            <a:r>
              <a:rPr lang="en-US" sz="2100" dirty="0">
                <a:solidFill>
                  <a:srgbClr val="9184D9"/>
                </a:solidFill>
                <a:latin typeface="Courier New" pitchFamily="34" charset="0"/>
                <a:ea typeface="Courier New" pitchFamily="34" charset="-122"/>
                <a:cs typeface="Courier New" pitchFamily="34" charset="-120"/>
              </a:rPr>
              <a:t>nota</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 </a:t>
            </a:r>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float</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pPr algn="l" indent="0" marL="0">
              <a:lnSpc>
                <a:spcPct val="178065"/>
              </a:lnSpc>
              <a:buNone/>
            </a:pPr>
            <a:r>
              <a:rPr lang="en-US" sz="2100" dirty="0">
                <a:solidFill>
                  <a:srgbClr val="9184D9"/>
                </a:solidFill>
                <a:latin typeface="Courier New" pitchFamily="34" charset="0"/>
                <a:ea typeface="Courier New" pitchFamily="34" charset="-122"/>
                <a:cs typeface="Courier New" pitchFamily="34" charset="-120"/>
              </a:rPr>
              <a:t>input</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"Ingresa tu nota: "</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a:t>
            </a:r>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if</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nota &gt;= </a:t>
            </a:r>
            <a:pPr algn="l" indent="0" marL="0">
              <a:lnSpc>
                <a:spcPct val="178065"/>
              </a:lnSpc>
              <a:buNone/>
            </a:pPr>
            <a:r>
              <a:rPr lang="en-US" sz="2100" dirty="0">
                <a:solidFill>
                  <a:srgbClr val="F3F5FE"/>
                </a:solidFill>
                <a:latin typeface="Courier New" pitchFamily="34" charset="0"/>
                <a:ea typeface="Courier New" pitchFamily="34" charset="-122"/>
                <a:cs typeface="Courier New" pitchFamily="34" charset="-120"/>
              </a:rPr>
              <a:t>6 </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endParaRPr lang="en-US" sz="2100" dirty="0"/>
          </a:p>
          <a:p>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a:t>
            </a:r>
            <a:endParaRPr lang="en-US" sz="2100" dirty="0"/>
          </a:p>
          <a:p>
            <a:pPr algn="l" indent="0" marL="0">
              <a:lnSpc>
                <a:spcPct val="178065"/>
              </a:lnSpc>
              <a:buNone/>
            </a:pPr>
            <a:r>
              <a:rPr lang="en-US" sz="2100" dirty="0">
                <a:solidFill>
                  <a:srgbClr val="9184D9"/>
                </a:solidFill>
                <a:latin typeface="Courier New" pitchFamily="34" charset="0"/>
                <a:ea typeface="Courier New" pitchFamily="34" charset="-122"/>
                <a:cs typeface="Courier New" pitchFamily="34" charset="-120"/>
              </a:rPr>
              <a:t>print</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"Aprobaste la materia"</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a:t>
            </a:r>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else </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endParaRPr lang="en-US" sz="2100" dirty="0"/>
          </a:p>
          <a:p>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a:t>
            </a:r>
            <a:endParaRPr lang="en-US" sz="2100" dirty="0"/>
          </a:p>
          <a:p>
            <a:pPr algn="l" indent="0" marL="0">
              <a:lnSpc>
                <a:spcPct val="178065"/>
              </a:lnSpc>
              <a:buNone/>
            </a:pPr>
            <a:r>
              <a:rPr lang="en-US" sz="2100" dirty="0">
                <a:solidFill>
                  <a:srgbClr val="9184D9"/>
                </a:solidFill>
                <a:latin typeface="Courier New" pitchFamily="34" charset="0"/>
                <a:ea typeface="Courier New" pitchFamily="34" charset="-122"/>
                <a:cs typeface="Courier New" pitchFamily="34" charset="-120"/>
              </a:rPr>
              <a:t>print</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"No aprobaste la materia"</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endParaRPr lang="en-US" sz="2100" dirty="0"/>
          </a:p>
        </p:txBody>
      </p:sp>
      <p:sp>
        <p:nvSpPr>
          <p:cNvPr id="7" name="Text 5"/>
          <p:cNvSpPr/>
          <p:nvPr/>
        </p:nvSpPr>
        <p:spPr>
          <a:xfrm>
            <a:off x="1143000" y="7784009"/>
            <a:ext cx="13404652" cy="218331"/>
          </a:xfrm>
          <a:prstGeom prst="rect">
            <a:avLst/>
          </a:prstGeom>
          <a:noFill/>
          <a:ln/>
        </p:spPr>
        <p:txBody>
          <a:bodyPr wrap="square" lIns="25400" tIns="25400" rIns="25400" bIns="25400" rtlCol="0" anchor="t">
            <a:normAutofit/>
          </a:bodyPr>
          <a:lstStyle/>
          <a:p>
            <a:pPr algn="l" indent="0" marL="0">
              <a:lnSpc>
                <a:spcPct val="154839"/>
              </a:lnSpc>
              <a:buNone/>
            </a:pPr>
            <a:r>
              <a:rPr lang="en-US" sz="1950" dirty="0">
                <a:solidFill>
                  <a:srgbClr val="E9E9ED">
                    <a:alpha val="55000"/>
                  </a:srgbClr>
                </a:solidFill>
                <a:latin typeface="Arial" pitchFamily="34" charset="0"/>
                <a:ea typeface="Arial" pitchFamily="34" charset="-122"/>
                <a:cs typeface="Arial" pitchFamily="34" charset="-120"/>
              </a:rPr>
              <a:t>nota = 7 → Aprobaste la materia · nota = 4 → No aprobaste la materia · nota = 6 → Aprobaste la materia</a:t>
            </a:r>
            <a:endParaRPr lang="en-US" sz="1950" dirty="0"/>
          </a:p>
        </p:txBody>
      </p:sp>
      <p:pic>
        <p:nvPicPr>
          <p:cNvPr id="8" name="Image 0" descr="preencoded.png">    </p:cNvPr>
          <p:cNvPicPr>
            <a:picLocks noChangeAspect="1"/>
          </p:cNvPicPr>
          <p:nvPr/>
        </p:nvPicPr>
        <p:blipFill>
          <a:blip r:embed="rId1"/>
          <a:stretch>
            <a:fillRect/>
          </a:stretch>
        </p:blipFill>
        <p:spPr>
          <a:xfrm>
            <a:off x="13612713" y="9815810"/>
            <a:ext cx="3532287" cy="16639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82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B2741">
                  <a:alpha val="75000"/>
                </a:srgbClr>
              </a:gs>
              <a:gs pos="58000">
                <a:srgbClr val="2B2741">
                  <a:alpha val="0"/>
                </a:srgbClr>
              </a:gs>
            </a:gsLst>
            <a:path path="circle">
              <a:fillToRect l="80000" t="0" r="20000" b="100000"/>
            </a:path>
          </a:gradFill>
          <a:ln/>
        </p:spPr>
      </p:sp>
      <p:sp>
        <p:nvSpPr>
          <p:cNvPr id="3" name="Text 1"/>
          <p:cNvSpPr/>
          <p:nvPr/>
        </p:nvSpPr>
        <p:spPr>
          <a:xfrm>
            <a:off x="1143000" y="748010"/>
            <a:ext cx="5492502" cy="204490"/>
          </a:xfrm>
          <a:prstGeom prst="rect">
            <a:avLst/>
          </a:prstGeom>
          <a:noFill/>
          <a:ln/>
        </p:spPr>
        <p:txBody>
          <a:bodyPr wrap="square" lIns="25400" tIns="25400" rIns="25400" bIns="25400" rtlCol="0" anchor="t">
            <a:normAutofit/>
          </a:bodyPr>
          <a:lstStyle/>
          <a:p>
            <a:pPr algn="l" indent="0" marL="0">
              <a:lnSpc>
                <a:spcPct val="132857"/>
              </a:lnSpc>
              <a:buNone/>
            </a:pPr>
            <a:r>
              <a:rPr lang="en-US" sz="1800" spc="108" kern="0" dirty="0">
                <a:solidFill>
                  <a:srgbClr val="9184D9"/>
                </a:solidFill>
                <a:latin typeface="Arial" pitchFamily="34" charset="0"/>
                <a:ea typeface="Arial" pitchFamily="34" charset="-122"/>
                <a:cs typeface="Arial" pitchFamily="34" charset="-120"/>
              </a:rPr>
              <a:t>EJERCICIO 3 · MAYOR DE DOS NÚMEROS</a:t>
            </a:r>
            <a:endParaRPr lang="en-US" sz="1800" dirty="0"/>
          </a:p>
        </p:txBody>
      </p:sp>
      <p:sp>
        <p:nvSpPr>
          <p:cNvPr id="4" name="Text 2"/>
          <p:cNvSpPr/>
          <p:nvPr/>
        </p:nvSpPr>
        <p:spPr>
          <a:xfrm>
            <a:off x="1106537" y="1842492"/>
            <a:ext cx="17642309" cy="481608"/>
          </a:xfrm>
          <a:prstGeom prst="rect">
            <a:avLst/>
          </a:prstGeom>
          <a:noFill/>
          <a:ln/>
        </p:spPr>
        <p:txBody>
          <a:bodyPr wrap="square" lIns="25400" tIns="25400" rIns="25400" bIns="25400" rtlCol="0" anchor="t">
            <a:normAutofit/>
          </a:bodyPr>
          <a:lstStyle/>
          <a:p>
            <a:pPr algn="l" indent="0" marL="0">
              <a:lnSpc>
                <a:spcPct val="97297"/>
              </a:lnSpc>
              <a:buNone/>
            </a:pPr>
            <a:r>
              <a:rPr lang="en-US" sz="4800" spc="-72" kern="0" dirty="0">
                <a:solidFill>
                  <a:srgbClr val="E9E9ED"/>
                </a:solidFill>
                <a:latin typeface="Arial" pitchFamily="34" charset="0"/>
                <a:ea typeface="Arial" pitchFamily="34" charset="-122"/>
                <a:cs typeface="Arial" pitchFamily="34" charset="-120"/>
              </a:rPr>
              <a:t>Cuando hacen falta más de dos caminos: elif</a:t>
            </a:r>
            <a:endParaRPr lang="en-US" sz="4800" dirty="0"/>
          </a:p>
        </p:txBody>
      </p:sp>
      <p:sp>
        <p:nvSpPr>
          <p:cNvPr id="5" name="Text 3"/>
          <p:cNvSpPr/>
          <p:nvPr/>
        </p:nvSpPr>
        <p:spPr>
          <a:xfrm>
            <a:off x="1143000" y="3421856"/>
            <a:ext cx="12363450" cy="273695"/>
          </a:xfrm>
          <a:prstGeom prst="rect">
            <a:avLst/>
          </a:prstGeom>
          <a:noFill/>
          <a:ln/>
        </p:spPr>
        <p:txBody>
          <a:bodyPr wrap="square" lIns="25400" tIns="25400" rIns="25400" bIns="25400" rtlCol="0" anchor="t">
            <a:normAutofit/>
          </a:bodyPr>
          <a:lstStyle/>
          <a:p>
            <a:pPr algn="l" indent="0" marL="0">
              <a:lnSpc>
                <a:spcPct val="123077"/>
              </a:lnSpc>
              <a:buNone/>
            </a:pPr>
            <a:r>
              <a:rPr lang="en-US" sz="2550" b="1" dirty="0">
                <a:solidFill>
                  <a:srgbClr val="E9E9ED"/>
                </a:solidFill>
                <a:latin typeface="Arial" pitchFamily="34" charset="0"/>
                <a:ea typeface="Arial" pitchFamily="34" charset="-122"/>
                <a:cs typeface="Arial" pitchFamily="34" charset="-120"/>
              </a:rPr>
              <a:t>elif </a:t>
            </a:r>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significa "si no, pero si..." — permite encadenar varias condiciones.</a:t>
            </a:r>
            <a:endParaRPr lang="en-US" sz="2550" dirty="0"/>
          </a:p>
        </p:txBody>
      </p:sp>
      <p:sp>
        <p:nvSpPr>
          <p:cNvPr id="6" name="Text 4"/>
          <p:cNvSpPr/>
          <p:nvPr/>
        </p:nvSpPr>
        <p:spPr>
          <a:xfrm>
            <a:off x="1143000" y="4336107"/>
            <a:ext cx="11576685" cy="730895"/>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Python revisa las condiciones en orden y ejecuta la primera que sea verdadera.</a:t>
            </a:r>
            <a:endParaRPr lang="en-US" sz="2550" dirty="0"/>
          </a:p>
        </p:txBody>
      </p:sp>
      <p:sp>
        <p:nvSpPr>
          <p:cNvPr id="7" name="Text 5"/>
          <p:cNvSpPr/>
          <p:nvPr/>
        </p:nvSpPr>
        <p:spPr>
          <a:xfrm>
            <a:off x="1143000" y="5707559"/>
            <a:ext cx="12363450" cy="273695"/>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Si ninguna condición se cumple, se ejecuta el </a:t>
            </a:r>
            <a:pPr algn="l" indent="0" marL="0">
              <a:lnSpc>
                <a:spcPct val="123077"/>
              </a:lnSpc>
              <a:buNone/>
            </a:pPr>
            <a:r>
              <a:rPr lang="en-US" sz="2550" b="1" dirty="0">
                <a:solidFill>
                  <a:srgbClr val="E9E9ED"/>
                </a:solidFill>
                <a:latin typeface="Arial" pitchFamily="34" charset="0"/>
                <a:ea typeface="Arial" pitchFamily="34" charset="-122"/>
                <a:cs typeface="Arial" pitchFamily="34" charset="-120"/>
              </a:rPr>
              <a:t>else </a:t>
            </a:r>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final (si existe).</a:t>
            </a:r>
            <a:endParaRPr lang="en-US" sz="2550" dirty="0"/>
          </a:p>
        </p:txBody>
      </p:sp>
      <p:pic>
        <p:nvPicPr>
          <p:cNvPr id="8" name="Image 0" descr="preencoded.png">    </p:cNvPr>
          <p:cNvPicPr>
            <a:picLocks noChangeAspect="1"/>
          </p:cNvPicPr>
          <p:nvPr/>
        </p:nvPicPr>
        <p:blipFill>
          <a:blip r:embed="rId1"/>
          <a:stretch>
            <a:fillRect/>
          </a:stretch>
        </p:blipFill>
        <p:spPr>
          <a:xfrm>
            <a:off x="13612713" y="9815810"/>
            <a:ext cx="3532287" cy="16639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82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B2741">
                  <a:alpha val="75000"/>
                </a:srgbClr>
              </a:gs>
              <a:gs pos="58000">
                <a:srgbClr val="2B2741">
                  <a:alpha val="0"/>
                </a:srgbClr>
              </a:gs>
            </a:gsLst>
            <a:path path="circle">
              <a:fillToRect l="80000" t="0" r="20000" b="100000"/>
            </a:path>
          </a:gradFill>
          <a:ln/>
        </p:spPr>
      </p:sp>
      <p:sp>
        <p:nvSpPr>
          <p:cNvPr id="3" name="Text 1"/>
          <p:cNvSpPr/>
          <p:nvPr/>
        </p:nvSpPr>
        <p:spPr>
          <a:xfrm>
            <a:off x="1143000" y="748010"/>
            <a:ext cx="5492502" cy="204490"/>
          </a:xfrm>
          <a:prstGeom prst="rect">
            <a:avLst/>
          </a:prstGeom>
          <a:noFill/>
          <a:ln/>
        </p:spPr>
        <p:txBody>
          <a:bodyPr wrap="square" lIns="25400" tIns="25400" rIns="25400" bIns="25400" rtlCol="0" anchor="t">
            <a:normAutofit/>
          </a:bodyPr>
          <a:lstStyle/>
          <a:p>
            <a:pPr algn="l" indent="0" marL="0">
              <a:lnSpc>
                <a:spcPct val="132857"/>
              </a:lnSpc>
              <a:buNone/>
            </a:pPr>
            <a:r>
              <a:rPr lang="en-US" sz="1800" spc="108" kern="0" dirty="0">
                <a:solidFill>
                  <a:srgbClr val="9184D9"/>
                </a:solidFill>
                <a:latin typeface="Arial" pitchFamily="34" charset="0"/>
                <a:ea typeface="Arial" pitchFamily="34" charset="-122"/>
                <a:cs typeface="Arial" pitchFamily="34" charset="-120"/>
              </a:rPr>
              <a:t>EJERCICIO 3 · MAYOR DE DOS NÚMEROS</a:t>
            </a:r>
            <a:endParaRPr lang="en-US" sz="1800" dirty="0"/>
          </a:p>
        </p:txBody>
      </p:sp>
      <p:sp>
        <p:nvSpPr>
          <p:cNvPr id="4" name="Text 2"/>
          <p:cNvSpPr/>
          <p:nvPr/>
        </p:nvSpPr>
        <p:spPr>
          <a:xfrm>
            <a:off x="1106537" y="1842492"/>
            <a:ext cx="17642309" cy="481608"/>
          </a:xfrm>
          <a:prstGeom prst="rect">
            <a:avLst/>
          </a:prstGeom>
          <a:noFill/>
          <a:ln/>
        </p:spPr>
        <p:txBody>
          <a:bodyPr wrap="square" lIns="25400" tIns="25400" rIns="25400" bIns="25400" rtlCol="0" anchor="t">
            <a:normAutofit/>
          </a:bodyPr>
          <a:lstStyle/>
          <a:p>
            <a:pPr algn="l" indent="0" marL="0">
              <a:lnSpc>
                <a:spcPct val="97297"/>
              </a:lnSpc>
              <a:buNone/>
            </a:pPr>
            <a:r>
              <a:rPr lang="en-US" sz="4800" spc="-72" kern="0" dirty="0">
                <a:solidFill>
                  <a:srgbClr val="E9E9ED"/>
                </a:solidFill>
                <a:latin typeface="Arial" pitchFamily="34" charset="0"/>
                <a:ea typeface="Arial" pitchFamily="34" charset="-122"/>
                <a:cs typeface="Arial" pitchFamily="34" charset="-120"/>
              </a:rPr>
              <a:t>Código y tabla de casos</a:t>
            </a:r>
            <a:endParaRPr lang="en-US" sz="4800" dirty="0"/>
          </a:p>
        </p:txBody>
      </p:sp>
      <p:sp>
        <p:nvSpPr>
          <p:cNvPr id="5" name="Shape 3"/>
          <p:cNvSpPr/>
          <p:nvPr/>
        </p:nvSpPr>
        <p:spPr>
          <a:xfrm>
            <a:off x="1143000" y="3487341"/>
            <a:ext cx="14097000" cy="5139928"/>
          </a:xfrm>
          <a:prstGeom prst="roundRect">
            <a:avLst>
              <a:gd name="adj" fmla="val 1483"/>
            </a:avLst>
          </a:prstGeom>
          <a:solidFill>
            <a:srgbClr val="3F424D"/>
          </a:solidFill>
          <a:ln w="9525">
            <a:solidFill>
              <a:srgbClr val="E6E6EC">
                <a:alpha val="16000"/>
              </a:srgbClr>
            </a:solidFill>
            <a:prstDash val="solid"/>
          </a:ln>
          <a:effectLst>
            <a:outerShdw sx="100000" sy="100000" kx="0" ky="0" algn="bl" rotWithShape="0" blurRad="101600" dist="50800" dir="16200000">
              <a:srgbClr val="3F424D">
                <a:alpha val="100000"/>
              </a:srgbClr>
            </a:outerShdw>
          </a:effectLst>
        </p:spPr>
      </p:sp>
      <p:sp>
        <p:nvSpPr>
          <p:cNvPr id="6" name="Text 4"/>
          <p:cNvSpPr/>
          <p:nvPr/>
        </p:nvSpPr>
        <p:spPr>
          <a:xfrm>
            <a:off x="1533525" y="3954066"/>
            <a:ext cx="13738860" cy="4244578"/>
          </a:xfrm>
          <a:prstGeom prst="rect">
            <a:avLst/>
          </a:prstGeom>
          <a:noFill/>
          <a:ln/>
        </p:spPr>
        <p:txBody>
          <a:bodyPr wrap="none" lIns="25400" tIns="25400" rIns="25400" bIns="25400" rtlCol="0" anchor="t">
            <a:normAutofit/>
          </a:bodyPr>
          <a:lstStyle/>
          <a:p>
            <a:pPr algn="l" indent="0" marL="0">
              <a:lnSpc>
                <a:spcPct val="178065"/>
              </a:lnSpc>
              <a:buNone/>
            </a:pPr>
            <a:r>
              <a:rPr lang="en-US" sz="2100" dirty="0">
                <a:solidFill>
                  <a:srgbClr val="9184D9"/>
                </a:solidFill>
                <a:latin typeface="Courier New" pitchFamily="34" charset="0"/>
                <a:ea typeface="Courier New" pitchFamily="34" charset="-122"/>
                <a:cs typeface="Courier New" pitchFamily="34" charset="-120"/>
              </a:rPr>
              <a:t>numero1</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 </a:t>
            </a:r>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float</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pPr algn="l" indent="0" marL="0">
              <a:lnSpc>
                <a:spcPct val="178065"/>
              </a:lnSpc>
              <a:buNone/>
            </a:pPr>
            <a:r>
              <a:rPr lang="en-US" sz="2100" dirty="0">
                <a:solidFill>
                  <a:srgbClr val="9184D9"/>
                </a:solidFill>
                <a:latin typeface="Courier New" pitchFamily="34" charset="0"/>
                <a:ea typeface="Courier New" pitchFamily="34" charset="-122"/>
                <a:cs typeface="Courier New" pitchFamily="34" charset="-120"/>
              </a:rPr>
              <a:t>input</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"Primer numero: "</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a:t>
            </a:r>
            <a:pPr algn="l" indent="0" marL="0">
              <a:lnSpc>
                <a:spcPct val="178065"/>
              </a:lnSpc>
              <a:buNone/>
            </a:pPr>
            <a:r>
              <a:rPr lang="en-US" sz="2100" dirty="0">
                <a:solidFill>
                  <a:srgbClr val="9184D9"/>
                </a:solidFill>
                <a:latin typeface="Courier New" pitchFamily="34" charset="0"/>
                <a:ea typeface="Courier New" pitchFamily="34" charset="-122"/>
                <a:cs typeface="Courier New" pitchFamily="34" charset="-120"/>
              </a:rPr>
              <a:t>numero2</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 </a:t>
            </a:r>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float</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pPr algn="l" indent="0" marL="0">
              <a:lnSpc>
                <a:spcPct val="178065"/>
              </a:lnSpc>
              <a:buNone/>
            </a:pPr>
            <a:r>
              <a:rPr lang="en-US" sz="2100" dirty="0">
                <a:solidFill>
                  <a:srgbClr val="9184D9"/>
                </a:solidFill>
                <a:latin typeface="Courier New" pitchFamily="34" charset="0"/>
                <a:ea typeface="Courier New" pitchFamily="34" charset="-122"/>
                <a:cs typeface="Courier New" pitchFamily="34" charset="-120"/>
              </a:rPr>
              <a:t>input</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"Segundo numero: "</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a:t>
            </a:r>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if </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numero1 &gt; numero2:</a:t>
            </a:r>
            <a:endParaRPr lang="en-US" sz="2100" dirty="0"/>
          </a:p>
          <a:p>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a:t>
            </a:r>
            <a:endParaRPr lang="en-US" sz="2100" dirty="0"/>
          </a:p>
          <a:p>
            <a:pPr algn="l" indent="0" marL="0">
              <a:lnSpc>
                <a:spcPct val="178065"/>
              </a:lnSpc>
              <a:buNone/>
            </a:pPr>
            <a:r>
              <a:rPr lang="en-US" sz="2100" dirty="0">
                <a:solidFill>
                  <a:srgbClr val="9184D9"/>
                </a:solidFill>
                <a:latin typeface="Courier New" pitchFamily="34" charset="0"/>
                <a:ea typeface="Courier New" pitchFamily="34" charset="-122"/>
                <a:cs typeface="Courier New" pitchFamily="34" charset="-120"/>
              </a:rPr>
              <a:t>print</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"El mayor es"</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numero1) </a:t>
            </a:r>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elif </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numero2 &gt; numero1:</a:t>
            </a:r>
            <a:endParaRPr lang="en-US" sz="2100" dirty="0"/>
          </a:p>
          <a:p>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a:t>
            </a:r>
            <a:endParaRPr lang="en-US" sz="2100" dirty="0"/>
          </a:p>
          <a:p>
            <a:pPr algn="l" indent="0" marL="0">
              <a:lnSpc>
                <a:spcPct val="178065"/>
              </a:lnSpc>
              <a:buNone/>
            </a:pPr>
            <a:r>
              <a:rPr lang="en-US" sz="2100" dirty="0">
                <a:solidFill>
                  <a:srgbClr val="9184D9"/>
                </a:solidFill>
                <a:latin typeface="Courier New" pitchFamily="34" charset="0"/>
                <a:ea typeface="Courier New" pitchFamily="34" charset="-122"/>
                <a:cs typeface="Courier New" pitchFamily="34" charset="-120"/>
              </a:rPr>
              <a:t>print</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"El mayor es"</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numero2) </a:t>
            </a:r>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else </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endParaRPr lang="en-US" sz="2100" dirty="0"/>
          </a:p>
          <a:p>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a:t>
            </a:r>
            <a:endParaRPr lang="en-US" sz="2100" dirty="0"/>
          </a:p>
          <a:p>
            <a:pPr algn="l" indent="0" marL="0">
              <a:lnSpc>
                <a:spcPct val="178065"/>
              </a:lnSpc>
              <a:buNone/>
            </a:pPr>
            <a:r>
              <a:rPr lang="en-US" sz="2100" dirty="0">
                <a:solidFill>
                  <a:srgbClr val="9184D9"/>
                </a:solidFill>
                <a:latin typeface="Courier New" pitchFamily="34" charset="0"/>
                <a:ea typeface="Courier New" pitchFamily="34" charset="-122"/>
                <a:cs typeface="Courier New" pitchFamily="34" charset="-120"/>
              </a:rPr>
              <a:t>print</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"Son iguales"</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endParaRPr lang="en-US" sz="2100" dirty="0"/>
          </a:p>
        </p:txBody>
      </p:sp>
      <p:pic>
        <p:nvPicPr>
          <p:cNvPr id="7" name="Image 0" descr="preencoded.png">    </p:cNvPr>
          <p:cNvPicPr>
            <a:picLocks noChangeAspect="1"/>
          </p:cNvPicPr>
          <p:nvPr/>
        </p:nvPicPr>
        <p:blipFill>
          <a:blip r:embed="rId1"/>
          <a:stretch>
            <a:fillRect/>
          </a:stretch>
        </p:blipFill>
        <p:spPr>
          <a:xfrm>
            <a:off x="13612713" y="9815810"/>
            <a:ext cx="3532287" cy="16639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82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B2741">
                  <a:alpha val="75000"/>
                </a:srgbClr>
              </a:gs>
              <a:gs pos="58000">
                <a:srgbClr val="2B2741">
                  <a:alpha val="0"/>
                </a:srgbClr>
              </a:gs>
            </a:gsLst>
            <a:path path="circle">
              <a:fillToRect l="80000" t="0" r="20000" b="100000"/>
            </a:path>
          </a:gradFill>
          <a:ln/>
        </p:spPr>
      </p:sp>
      <p:sp>
        <p:nvSpPr>
          <p:cNvPr id="3" name="Text 1"/>
          <p:cNvSpPr/>
          <p:nvPr/>
        </p:nvSpPr>
        <p:spPr>
          <a:xfrm>
            <a:off x="1143000" y="748010"/>
            <a:ext cx="5492502" cy="204490"/>
          </a:xfrm>
          <a:prstGeom prst="rect">
            <a:avLst/>
          </a:prstGeom>
          <a:noFill/>
          <a:ln/>
        </p:spPr>
        <p:txBody>
          <a:bodyPr wrap="square" lIns="25400" tIns="25400" rIns="25400" bIns="25400" rtlCol="0" anchor="t">
            <a:normAutofit/>
          </a:bodyPr>
          <a:lstStyle/>
          <a:p>
            <a:pPr algn="l" indent="0" marL="0">
              <a:lnSpc>
                <a:spcPct val="132857"/>
              </a:lnSpc>
              <a:buNone/>
            </a:pPr>
            <a:r>
              <a:rPr lang="en-US" sz="1800" spc="108" kern="0" dirty="0">
                <a:solidFill>
                  <a:srgbClr val="9184D9"/>
                </a:solidFill>
                <a:latin typeface="Arial" pitchFamily="34" charset="0"/>
                <a:ea typeface="Arial" pitchFamily="34" charset="-122"/>
                <a:cs typeface="Arial" pitchFamily="34" charset="-120"/>
              </a:rPr>
              <a:t>EJERCICIO 3 · MAYOR DE DOS NÚMEROS</a:t>
            </a:r>
            <a:endParaRPr lang="en-US" sz="1800" dirty="0"/>
          </a:p>
        </p:txBody>
      </p:sp>
      <p:sp>
        <p:nvSpPr>
          <p:cNvPr id="4" name="Text 2"/>
          <p:cNvSpPr/>
          <p:nvPr/>
        </p:nvSpPr>
        <p:spPr>
          <a:xfrm>
            <a:off x="1106537" y="1842492"/>
            <a:ext cx="17642309" cy="481608"/>
          </a:xfrm>
          <a:prstGeom prst="rect">
            <a:avLst/>
          </a:prstGeom>
          <a:noFill/>
          <a:ln/>
        </p:spPr>
        <p:txBody>
          <a:bodyPr wrap="square" lIns="25400" tIns="25400" rIns="25400" bIns="25400" rtlCol="0" anchor="t">
            <a:normAutofit/>
          </a:bodyPr>
          <a:lstStyle/>
          <a:p>
            <a:pPr algn="l" indent="0" marL="0">
              <a:lnSpc>
                <a:spcPct val="97297"/>
              </a:lnSpc>
              <a:buNone/>
            </a:pPr>
            <a:r>
              <a:rPr lang="en-US" sz="4800" spc="-72" kern="0" dirty="0">
                <a:solidFill>
                  <a:srgbClr val="E9E9ED"/>
                </a:solidFill>
                <a:latin typeface="Arial" pitchFamily="34" charset="0"/>
                <a:ea typeface="Arial" pitchFamily="34" charset="-122"/>
                <a:cs typeface="Arial" pitchFamily="34" charset="-120"/>
              </a:rPr>
              <a:t>Seguimiento de variables</a:t>
            </a:r>
            <a:endParaRPr lang="en-US" sz="4800" dirty="0"/>
          </a:p>
        </p:txBody>
      </p:sp>
      <p:sp>
        <p:nvSpPr>
          <p:cNvPr id="5" name="Text 3"/>
          <p:cNvSpPr/>
          <p:nvPr/>
        </p:nvSpPr>
        <p:spPr>
          <a:xfrm>
            <a:off x="1143000" y="3570963"/>
            <a:ext cx="1347341" cy="196788"/>
          </a:xfrm>
          <a:prstGeom prst="rect">
            <a:avLst/>
          </a:prstGeom>
          <a:noFill/>
          <a:ln/>
        </p:spPr>
        <p:txBody>
          <a:bodyPr wrap="square" lIns="25400" tIns="25400" rIns="25400" bIns="25400" rtlCol="0" anchor="ctr">
            <a:normAutofit/>
          </a:bodyPr>
          <a:lstStyle/>
          <a:p>
            <a:pPr algn="l" indent="0" marL="0">
              <a:lnSpc>
                <a:spcPct val="132857"/>
              </a:lnSpc>
              <a:buNone/>
            </a:pPr>
            <a:r>
              <a:rPr lang="en-US" sz="1800" b="1" spc="144" kern="0" dirty="0">
                <a:solidFill>
                  <a:srgbClr val="E9E9ED">
                    <a:alpha val="60000"/>
                  </a:srgbClr>
                </a:solidFill>
                <a:latin typeface="Arial" pitchFamily="34" charset="0"/>
                <a:ea typeface="Arial" pitchFamily="34" charset="-122"/>
                <a:cs typeface="Arial" pitchFamily="34" charset="-120"/>
              </a:rPr>
              <a:t>NUMERO1</a:t>
            </a:r>
            <a:endParaRPr lang="en-US" sz="1800" dirty="0"/>
          </a:p>
        </p:txBody>
      </p:sp>
      <p:sp>
        <p:nvSpPr>
          <p:cNvPr id="6" name="Text 4"/>
          <p:cNvSpPr/>
          <p:nvPr/>
        </p:nvSpPr>
        <p:spPr>
          <a:xfrm>
            <a:off x="2947541" y="3570963"/>
            <a:ext cx="2810839" cy="196788"/>
          </a:xfrm>
          <a:prstGeom prst="rect">
            <a:avLst/>
          </a:prstGeom>
          <a:noFill/>
          <a:ln/>
        </p:spPr>
        <p:txBody>
          <a:bodyPr wrap="square" lIns="25400" tIns="25400" rIns="25400" bIns="25400" rtlCol="0" anchor="ctr">
            <a:normAutofit/>
          </a:bodyPr>
          <a:lstStyle/>
          <a:p>
            <a:pPr algn="l" indent="0" marL="0">
              <a:lnSpc>
                <a:spcPct val="132857"/>
              </a:lnSpc>
              <a:buNone/>
            </a:pPr>
            <a:r>
              <a:rPr lang="en-US" sz="1800" b="1" spc="144" kern="0" dirty="0">
                <a:solidFill>
                  <a:srgbClr val="E9E9ED">
                    <a:alpha val="60000"/>
                  </a:srgbClr>
                </a:solidFill>
                <a:latin typeface="Arial" pitchFamily="34" charset="0"/>
                <a:ea typeface="Arial" pitchFamily="34" charset="-122"/>
                <a:cs typeface="Arial" pitchFamily="34" charset="-120"/>
              </a:rPr>
              <a:t>NUMERO2</a:t>
            </a:r>
            <a:endParaRPr lang="en-US" sz="1800" dirty="0"/>
          </a:p>
        </p:txBody>
      </p:sp>
      <p:sp>
        <p:nvSpPr>
          <p:cNvPr id="7" name="Text 5"/>
          <p:cNvSpPr/>
          <p:nvPr/>
        </p:nvSpPr>
        <p:spPr>
          <a:xfrm>
            <a:off x="6194375" y="3570963"/>
            <a:ext cx="4735433" cy="196788"/>
          </a:xfrm>
          <a:prstGeom prst="rect">
            <a:avLst/>
          </a:prstGeom>
          <a:noFill/>
          <a:ln/>
        </p:spPr>
        <p:txBody>
          <a:bodyPr wrap="square" lIns="25400" tIns="25400" rIns="25400" bIns="25400" rtlCol="0" anchor="ctr">
            <a:normAutofit/>
          </a:bodyPr>
          <a:lstStyle/>
          <a:p>
            <a:pPr algn="l" indent="0" marL="0">
              <a:lnSpc>
                <a:spcPct val="132857"/>
              </a:lnSpc>
              <a:buNone/>
            </a:pPr>
            <a:r>
              <a:rPr lang="en-US" sz="1800" b="1" spc="144" kern="0" dirty="0">
                <a:solidFill>
                  <a:srgbClr val="E9E9ED">
                    <a:alpha val="60000"/>
                  </a:srgbClr>
                </a:solidFill>
                <a:latin typeface="Arial" pitchFamily="34" charset="0"/>
                <a:ea typeface="Arial" pitchFamily="34" charset="-122"/>
                <a:cs typeface="Arial" pitchFamily="34" charset="-120"/>
              </a:rPr>
              <a:t>RAMA EJECUTADA</a:t>
            </a:r>
            <a:endParaRPr lang="en-US" sz="1800" dirty="0"/>
          </a:p>
        </p:txBody>
      </p:sp>
      <p:sp>
        <p:nvSpPr>
          <p:cNvPr id="8" name="Text 6"/>
          <p:cNvSpPr/>
          <p:nvPr/>
        </p:nvSpPr>
        <p:spPr>
          <a:xfrm>
            <a:off x="11309747" y="3570963"/>
            <a:ext cx="4056162" cy="196788"/>
          </a:xfrm>
          <a:prstGeom prst="rect">
            <a:avLst/>
          </a:prstGeom>
          <a:noFill/>
          <a:ln/>
        </p:spPr>
        <p:txBody>
          <a:bodyPr wrap="square" lIns="25400" tIns="25400" rIns="25400" bIns="25400" rtlCol="0" anchor="ctr">
            <a:normAutofit/>
          </a:bodyPr>
          <a:lstStyle/>
          <a:p>
            <a:pPr algn="l" indent="0" marL="0">
              <a:lnSpc>
                <a:spcPct val="132857"/>
              </a:lnSpc>
              <a:buNone/>
            </a:pPr>
            <a:r>
              <a:rPr lang="en-US" sz="1800" b="1" spc="144" kern="0" dirty="0">
                <a:solidFill>
                  <a:srgbClr val="E9E9ED">
                    <a:alpha val="60000"/>
                  </a:srgbClr>
                </a:solidFill>
                <a:latin typeface="Arial" pitchFamily="34" charset="0"/>
                <a:ea typeface="Arial" pitchFamily="34" charset="-122"/>
                <a:cs typeface="Arial" pitchFamily="34" charset="-120"/>
              </a:rPr>
              <a:t>SALIDA</a:t>
            </a:r>
            <a:endParaRPr lang="en-US" sz="1800" dirty="0"/>
          </a:p>
        </p:txBody>
      </p:sp>
      <p:sp>
        <p:nvSpPr>
          <p:cNvPr id="9" name="Text 7"/>
          <p:cNvSpPr/>
          <p:nvPr/>
        </p:nvSpPr>
        <p:spPr>
          <a:xfrm>
            <a:off x="1143000" y="4458230"/>
            <a:ext cx="1347341" cy="245846"/>
          </a:xfrm>
          <a:prstGeom prst="rect">
            <a:avLst/>
          </a:prstGeom>
          <a:noFill/>
          <a:ln/>
        </p:spPr>
        <p:txBody>
          <a:bodyPr wrap="square" lIns="25400" tIns="25400" rIns="25400" bIns="25400" rtlCol="0" anchor="ctr">
            <a:normAutofit/>
          </a:bodyPr>
          <a:lstStyle/>
          <a:p>
            <a:pPr algn="l" indent="0" marL="0">
              <a:lnSpc>
                <a:spcPct val="136765"/>
              </a:lnSpc>
              <a:buNone/>
            </a:pPr>
            <a:r>
              <a:rPr lang="en-US" sz="2250" dirty="0">
                <a:solidFill>
                  <a:srgbClr val="E9E9ED"/>
                </a:solidFill>
                <a:latin typeface="Arial" pitchFamily="34" charset="0"/>
                <a:ea typeface="Arial" pitchFamily="34" charset="-122"/>
                <a:cs typeface="Arial" pitchFamily="34" charset="-120"/>
              </a:rPr>
              <a:t>5</a:t>
            </a:r>
            <a:endParaRPr lang="en-US" sz="2250" dirty="0"/>
          </a:p>
        </p:txBody>
      </p:sp>
      <p:sp>
        <p:nvSpPr>
          <p:cNvPr id="10" name="Text 8"/>
          <p:cNvSpPr/>
          <p:nvPr/>
        </p:nvSpPr>
        <p:spPr>
          <a:xfrm>
            <a:off x="2947541" y="4458230"/>
            <a:ext cx="2810839" cy="245846"/>
          </a:xfrm>
          <a:prstGeom prst="rect">
            <a:avLst/>
          </a:prstGeom>
          <a:noFill/>
          <a:ln/>
        </p:spPr>
        <p:txBody>
          <a:bodyPr wrap="square" lIns="25400" tIns="25400" rIns="25400" bIns="25400" rtlCol="0" anchor="ctr">
            <a:normAutofit/>
          </a:bodyPr>
          <a:lstStyle/>
          <a:p>
            <a:pPr algn="l" indent="0" marL="0">
              <a:lnSpc>
                <a:spcPct val="136765"/>
              </a:lnSpc>
              <a:buNone/>
            </a:pPr>
            <a:r>
              <a:rPr lang="en-US" sz="2250" dirty="0">
                <a:solidFill>
                  <a:srgbClr val="E9E9ED"/>
                </a:solidFill>
                <a:latin typeface="Arial" pitchFamily="34" charset="0"/>
                <a:ea typeface="Arial" pitchFamily="34" charset="-122"/>
                <a:cs typeface="Arial" pitchFamily="34" charset="-120"/>
              </a:rPr>
              <a:t>3</a:t>
            </a:r>
            <a:endParaRPr lang="en-US" sz="2250" dirty="0"/>
          </a:p>
        </p:txBody>
      </p:sp>
      <p:sp>
        <p:nvSpPr>
          <p:cNvPr id="11" name="Text 9"/>
          <p:cNvSpPr/>
          <p:nvPr/>
        </p:nvSpPr>
        <p:spPr>
          <a:xfrm>
            <a:off x="6194375" y="4458230"/>
            <a:ext cx="4735433" cy="245846"/>
          </a:xfrm>
          <a:prstGeom prst="rect">
            <a:avLst/>
          </a:prstGeom>
          <a:noFill/>
          <a:ln/>
        </p:spPr>
        <p:txBody>
          <a:bodyPr wrap="square" lIns="25400" tIns="25400" rIns="25400" bIns="25400" rtlCol="0" anchor="ctr">
            <a:normAutofit/>
          </a:bodyPr>
          <a:lstStyle/>
          <a:p>
            <a:pPr algn="l" indent="0" marL="0">
              <a:lnSpc>
                <a:spcPct val="136765"/>
              </a:lnSpc>
              <a:buNone/>
            </a:pPr>
            <a:r>
              <a:rPr lang="en-US" sz="2250" dirty="0">
                <a:solidFill>
                  <a:srgbClr val="E9E9ED"/>
                </a:solidFill>
                <a:latin typeface="Arial" pitchFamily="34" charset="0"/>
                <a:ea typeface="Arial" pitchFamily="34" charset="-122"/>
                <a:cs typeface="Arial" pitchFamily="34" charset="-120"/>
              </a:rPr>
              <a:t>if</a:t>
            </a:r>
            <a:endParaRPr lang="en-US" sz="2250" dirty="0"/>
          </a:p>
        </p:txBody>
      </p:sp>
      <p:sp>
        <p:nvSpPr>
          <p:cNvPr id="12" name="Text 10"/>
          <p:cNvSpPr/>
          <p:nvPr/>
        </p:nvSpPr>
        <p:spPr>
          <a:xfrm>
            <a:off x="11309747" y="4458230"/>
            <a:ext cx="4056162" cy="245846"/>
          </a:xfrm>
          <a:prstGeom prst="rect">
            <a:avLst/>
          </a:prstGeom>
          <a:noFill/>
          <a:ln/>
        </p:spPr>
        <p:txBody>
          <a:bodyPr wrap="square" lIns="25400" tIns="25400" rIns="25400" bIns="25400" rtlCol="0" anchor="ctr">
            <a:normAutofit/>
          </a:bodyPr>
          <a:lstStyle/>
          <a:p>
            <a:pPr algn="l" indent="0" marL="0">
              <a:lnSpc>
                <a:spcPct val="136765"/>
              </a:lnSpc>
              <a:buNone/>
            </a:pPr>
            <a:r>
              <a:rPr lang="en-US" sz="2250" dirty="0">
                <a:solidFill>
                  <a:srgbClr val="E9E9ED"/>
                </a:solidFill>
                <a:latin typeface="Arial" pitchFamily="34" charset="0"/>
                <a:ea typeface="Arial" pitchFamily="34" charset="-122"/>
                <a:cs typeface="Arial" pitchFamily="34" charset="-120"/>
              </a:rPr>
              <a:t>El mayor es 5.0</a:t>
            </a:r>
            <a:endParaRPr lang="en-US" sz="2250" dirty="0"/>
          </a:p>
        </p:txBody>
      </p:sp>
      <p:sp>
        <p:nvSpPr>
          <p:cNvPr id="13" name="Text 11"/>
          <p:cNvSpPr/>
          <p:nvPr/>
        </p:nvSpPr>
        <p:spPr>
          <a:xfrm>
            <a:off x="1143000" y="5372481"/>
            <a:ext cx="1347341" cy="245846"/>
          </a:xfrm>
          <a:prstGeom prst="rect">
            <a:avLst/>
          </a:prstGeom>
          <a:noFill/>
          <a:ln/>
        </p:spPr>
        <p:txBody>
          <a:bodyPr wrap="square" lIns="25400" tIns="25400" rIns="25400" bIns="25400" rtlCol="0" anchor="ctr">
            <a:normAutofit/>
          </a:bodyPr>
          <a:lstStyle/>
          <a:p>
            <a:pPr algn="l" indent="0" marL="0">
              <a:lnSpc>
                <a:spcPct val="136765"/>
              </a:lnSpc>
              <a:buNone/>
            </a:pPr>
            <a:r>
              <a:rPr lang="en-US" sz="2250" dirty="0">
                <a:solidFill>
                  <a:srgbClr val="E9E9ED"/>
                </a:solidFill>
                <a:latin typeface="Arial" pitchFamily="34" charset="0"/>
                <a:ea typeface="Arial" pitchFamily="34" charset="-122"/>
                <a:cs typeface="Arial" pitchFamily="34" charset="-120"/>
              </a:rPr>
              <a:t>2</a:t>
            </a:r>
            <a:endParaRPr lang="en-US" sz="2250" dirty="0"/>
          </a:p>
        </p:txBody>
      </p:sp>
      <p:sp>
        <p:nvSpPr>
          <p:cNvPr id="14" name="Text 12"/>
          <p:cNvSpPr/>
          <p:nvPr/>
        </p:nvSpPr>
        <p:spPr>
          <a:xfrm>
            <a:off x="2947541" y="5372481"/>
            <a:ext cx="2810839" cy="245846"/>
          </a:xfrm>
          <a:prstGeom prst="rect">
            <a:avLst/>
          </a:prstGeom>
          <a:noFill/>
          <a:ln/>
        </p:spPr>
        <p:txBody>
          <a:bodyPr wrap="square" lIns="25400" tIns="25400" rIns="25400" bIns="25400" rtlCol="0" anchor="ctr">
            <a:normAutofit/>
          </a:bodyPr>
          <a:lstStyle/>
          <a:p>
            <a:pPr algn="l" indent="0" marL="0">
              <a:lnSpc>
                <a:spcPct val="136765"/>
              </a:lnSpc>
              <a:buNone/>
            </a:pPr>
            <a:r>
              <a:rPr lang="en-US" sz="2250" dirty="0">
                <a:solidFill>
                  <a:srgbClr val="E9E9ED"/>
                </a:solidFill>
                <a:latin typeface="Arial" pitchFamily="34" charset="0"/>
                <a:ea typeface="Arial" pitchFamily="34" charset="-122"/>
                <a:cs typeface="Arial" pitchFamily="34" charset="-120"/>
              </a:rPr>
              <a:t>8</a:t>
            </a:r>
            <a:endParaRPr lang="en-US" sz="2250" dirty="0"/>
          </a:p>
        </p:txBody>
      </p:sp>
      <p:sp>
        <p:nvSpPr>
          <p:cNvPr id="15" name="Text 13"/>
          <p:cNvSpPr/>
          <p:nvPr/>
        </p:nvSpPr>
        <p:spPr>
          <a:xfrm>
            <a:off x="6194375" y="5372481"/>
            <a:ext cx="4735433" cy="245846"/>
          </a:xfrm>
          <a:prstGeom prst="rect">
            <a:avLst/>
          </a:prstGeom>
          <a:noFill/>
          <a:ln/>
        </p:spPr>
        <p:txBody>
          <a:bodyPr wrap="square" lIns="25400" tIns="25400" rIns="25400" bIns="25400" rtlCol="0" anchor="ctr">
            <a:normAutofit/>
          </a:bodyPr>
          <a:lstStyle/>
          <a:p>
            <a:pPr algn="l" indent="0" marL="0">
              <a:lnSpc>
                <a:spcPct val="136765"/>
              </a:lnSpc>
              <a:buNone/>
            </a:pPr>
            <a:r>
              <a:rPr lang="en-US" sz="2250" dirty="0">
                <a:solidFill>
                  <a:srgbClr val="E9E9ED"/>
                </a:solidFill>
                <a:latin typeface="Arial" pitchFamily="34" charset="0"/>
                <a:ea typeface="Arial" pitchFamily="34" charset="-122"/>
                <a:cs typeface="Arial" pitchFamily="34" charset="-120"/>
              </a:rPr>
              <a:t>elif</a:t>
            </a:r>
            <a:endParaRPr lang="en-US" sz="2250" dirty="0"/>
          </a:p>
        </p:txBody>
      </p:sp>
      <p:sp>
        <p:nvSpPr>
          <p:cNvPr id="16" name="Text 14"/>
          <p:cNvSpPr/>
          <p:nvPr/>
        </p:nvSpPr>
        <p:spPr>
          <a:xfrm>
            <a:off x="11309747" y="5372481"/>
            <a:ext cx="4056162" cy="245846"/>
          </a:xfrm>
          <a:prstGeom prst="rect">
            <a:avLst/>
          </a:prstGeom>
          <a:noFill/>
          <a:ln/>
        </p:spPr>
        <p:txBody>
          <a:bodyPr wrap="square" lIns="25400" tIns="25400" rIns="25400" bIns="25400" rtlCol="0" anchor="ctr">
            <a:normAutofit/>
          </a:bodyPr>
          <a:lstStyle/>
          <a:p>
            <a:pPr algn="l" indent="0" marL="0">
              <a:lnSpc>
                <a:spcPct val="136765"/>
              </a:lnSpc>
              <a:buNone/>
            </a:pPr>
            <a:r>
              <a:rPr lang="en-US" sz="2250" dirty="0">
                <a:solidFill>
                  <a:srgbClr val="E9E9ED"/>
                </a:solidFill>
                <a:latin typeface="Arial" pitchFamily="34" charset="0"/>
                <a:ea typeface="Arial" pitchFamily="34" charset="-122"/>
                <a:cs typeface="Arial" pitchFamily="34" charset="-120"/>
              </a:rPr>
              <a:t>El mayor es 8.0</a:t>
            </a:r>
            <a:endParaRPr lang="en-US" sz="2250" dirty="0"/>
          </a:p>
        </p:txBody>
      </p:sp>
      <p:sp>
        <p:nvSpPr>
          <p:cNvPr id="17" name="Text 15"/>
          <p:cNvSpPr/>
          <p:nvPr/>
        </p:nvSpPr>
        <p:spPr>
          <a:xfrm>
            <a:off x="1143000" y="6286732"/>
            <a:ext cx="1347341" cy="245846"/>
          </a:xfrm>
          <a:prstGeom prst="rect">
            <a:avLst/>
          </a:prstGeom>
          <a:noFill/>
          <a:ln/>
        </p:spPr>
        <p:txBody>
          <a:bodyPr wrap="square" lIns="25400" tIns="25400" rIns="25400" bIns="25400" rtlCol="0" anchor="ctr">
            <a:normAutofit/>
          </a:bodyPr>
          <a:lstStyle/>
          <a:p>
            <a:pPr algn="l" indent="0" marL="0">
              <a:lnSpc>
                <a:spcPct val="136765"/>
              </a:lnSpc>
              <a:buNone/>
            </a:pPr>
            <a:r>
              <a:rPr lang="en-US" sz="2250" dirty="0">
                <a:solidFill>
                  <a:srgbClr val="E9E9ED"/>
                </a:solidFill>
                <a:latin typeface="Arial" pitchFamily="34" charset="0"/>
                <a:ea typeface="Arial" pitchFamily="34" charset="-122"/>
                <a:cs typeface="Arial" pitchFamily="34" charset="-120"/>
              </a:rPr>
              <a:t>4</a:t>
            </a:r>
            <a:endParaRPr lang="en-US" sz="2250" dirty="0"/>
          </a:p>
        </p:txBody>
      </p:sp>
      <p:sp>
        <p:nvSpPr>
          <p:cNvPr id="18" name="Text 16"/>
          <p:cNvSpPr/>
          <p:nvPr/>
        </p:nvSpPr>
        <p:spPr>
          <a:xfrm>
            <a:off x="2947541" y="6286732"/>
            <a:ext cx="2810839" cy="245846"/>
          </a:xfrm>
          <a:prstGeom prst="rect">
            <a:avLst/>
          </a:prstGeom>
          <a:noFill/>
          <a:ln/>
        </p:spPr>
        <p:txBody>
          <a:bodyPr wrap="square" lIns="25400" tIns="25400" rIns="25400" bIns="25400" rtlCol="0" anchor="ctr">
            <a:normAutofit/>
          </a:bodyPr>
          <a:lstStyle/>
          <a:p>
            <a:pPr algn="l" indent="0" marL="0">
              <a:lnSpc>
                <a:spcPct val="136765"/>
              </a:lnSpc>
              <a:buNone/>
            </a:pPr>
            <a:r>
              <a:rPr lang="en-US" sz="2250" dirty="0">
                <a:solidFill>
                  <a:srgbClr val="E9E9ED"/>
                </a:solidFill>
                <a:latin typeface="Arial" pitchFamily="34" charset="0"/>
                <a:ea typeface="Arial" pitchFamily="34" charset="-122"/>
                <a:cs typeface="Arial" pitchFamily="34" charset="-120"/>
              </a:rPr>
              <a:t>4</a:t>
            </a:r>
            <a:endParaRPr lang="en-US" sz="2250" dirty="0"/>
          </a:p>
        </p:txBody>
      </p:sp>
      <p:sp>
        <p:nvSpPr>
          <p:cNvPr id="19" name="Text 17"/>
          <p:cNvSpPr/>
          <p:nvPr/>
        </p:nvSpPr>
        <p:spPr>
          <a:xfrm>
            <a:off x="6194375" y="6286732"/>
            <a:ext cx="4735433" cy="245846"/>
          </a:xfrm>
          <a:prstGeom prst="rect">
            <a:avLst/>
          </a:prstGeom>
          <a:noFill/>
          <a:ln/>
        </p:spPr>
        <p:txBody>
          <a:bodyPr wrap="square" lIns="25400" tIns="25400" rIns="25400" bIns="25400" rtlCol="0" anchor="ctr">
            <a:normAutofit/>
          </a:bodyPr>
          <a:lstStyle/>
          <a:p>
            <a:pPr algn="l" indent="0" marL="0">
              <a:lnSpc>
                <a:spcPct val="136765"/>
              </a:lnSpc>
              <a:buNone/>
            </a:pPr>
            <a:r>
              <a:rPr lang="en-US" sz="2250" dirty="0">
                <a:solidFill>
                  <a:srgbClr val="E9E9ED"/>
                </a:solidFill>
                <a:latin typeface="Arial" pitchFamily="34" charset="0"/>
                <a:ea typeface="Arial" pitchFamily="34" charset="-122"/>
                <a:cs typeface="Arial" pitchFamily="34" charset="-120"/>
              </a:rPr>
              <a:t>else</a:t>
            </a:r>
            <a:endParaRPr lang="en-US" sz="2250" dirty="0"/>
          </a:p>
        </p:txBody>
      </p:sp>
      <p:sp>
        <p:nvSpPr>
          <p:cNvPr id="20" name="Text 18"/>
          <p:cNvSpPr/>
          <p:nvPr/>
        </p:nvSpPr>
        <p:spPr>
          <a:xfrm>
            <a:off x="11309747" y="6286732"/>
            <a:ext cx="4056162" cy="245846"/>
          </a:xfrm>
          <a:prstGeom prst="rect">
            <a:avLst/>
          </a:prstGeom>
          <a:noFill/>
          <a:ln/>
        </p:spPr>
        <p:txBody>
          <a:bodyPr wrap="square" lIns="25400" tIns="25400" rIns="25400" bIns="25400" rtlCol="0" anchor="ctr">
            <a:normAutofit/>
          </a:bodyPr>
          <a:lstStyle/>
          <a:p>
            <a:pPr algn="l" indent="0" marL="0">
              <a:lnSpc>
                <a:spcPct val="136765"/>
              </a:lnSpc>
              <a:buNone/>
            </a:pPr>
            <a:r>
              <a:rPr lang="en-US" sz="2250" dirty="0">
                <a:solidFill>
                  <a:srgbClr val="E9E9ED"/>
                </a:solidFill>
                <a:latin typeface="Arial" pitchFamily="34" charset="0"/>
                <a:ea typeface="Arial" pitchFamily="34" charset="-122"/>
                <a:cs typeface="Arial" pitchFamily="34" charset="-120"/>
              </a:rPr>
              <a:t>Son iguales</a:t>
            </a:r>
            <a:endParaRPr lang="en-US" sz="2250" dirty="0"/>
          </a:p>
        </p:txBody>
      </p:sp>
      <p:pic>
        <p:nvPicPr>
          <p:cNvPr id="21" name="Image 0" descr="preencoded.png">    </p:cNvPr>
          <p:cNvPicPr>
            <a:picLocks noChangeAspect="1"/>
          </p:cNvPicPr>
          <p:nvPr/>
        </p:nvPicPr>
        <p:blipFill>
          <a:blip r:embed="rId1"/>
          <a:stretch>
            <a:fillRect/>
          </a:stretch>
        </p:blipFill>
        <p:spPr>
          <a:xfrm>
            <a:off x="13612713" y="9815810"/>
            <a:ext cx="3532287" cy="16639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82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B2741">
                  <a:alpha val="75000"/>
                </a:srgbClr>
              </a:gs>
              <a:gs pos="58000">
                <a:srgbClr val="2B2741">
                  <a:alpha val="0"/>
                </a:srgbClr>
              </a:gs>
            </a:gsLst>
            <a:path path="circle">
              <a:fillToRect l="80000" t="0" r="20000" b="100000"/>
            </a:path>
          </a:gradFill>
          <a:ln/>
        </p:spPr>
      </p:sp>
      <p:sp>
        <p:nvSpPr>
          <p:cNvPr id="3" name="Text 1"/>
          <p:cNvSpPr/>
          <p:nvPr/>
        </p:nvSpPr>
        <p:spPr>
          <a:xfrm>
            <a:off x="1143000" y="748010"/>
            <a:ext cx="5365462" cy="204490"/>
          </a:xfrm>
          <a:prstGeom prst="rect">
            <a:avLst/>
          </a:prstGeom>
          <a:noFill/>
          <a:ln/>
        </p:spPr>
        <p:txBody>
          <a:bodyPr wrap="square" lIns="25400" tIns="25400" rIns="25400" bIns="25400" rtlCol="0" anchor="t">
            <a:normAutofit/>
          </a:bodyPr>
          <a:lstStyle/>
          <a:p>
            <a:pPr algn="l" indent="0" marL="0">
              <a:lnSpc>
                <a:spcPct val="132857"/>
              </a:lnSpc>
              <a:buNone/>
            </a:pPr>
            <a:r>
              <a:rPr lang="en-US" sz="1800" spc="108" kern="0" dirty="0">
                <a:solidFill>
                  <a:srgbClr val="9184D9"/>
                </a:solidFill>
                <a:latin typeface="Arial" pitchFamily="34" charset="0"/>
                <a:ea typeface="Arial" pitchFamily="34" charset="-122"/>
                <a:cs typeface="Arial" pitchFamily="34" charset="-120"/>
              </a:rPr>
              <a:t>EJERCICIO 4 · CONDICIONES ANIDADAS</a:t>
            </a:r>
            <a:endParaRPr lang="en-US" sz="1800" dirty="0"/>
          </a:p>
        </p:txBody>
      </p:sp>
      <p:sp>
        <p:nvSpPr>
          <p:cNvPr id="4" name="Text 2"/>
          <p:cNvSpPr/>
          <p:nvPr/>
        </p:nvSpPr>
        <p:spPr>
          <a:xfrm>
            <a:off x="1106537" y="1842492"/>
            <a:ext cx="17642309" cy="481608"/>
          </a:xfrm>
          <a:prstGeom prst="rect">
            <a:avLst/>
          </a:prstGeom>
          <a:noFill/>
          <a:ln/>
        </p:spPr>
        <p:txBody>
          <a:bodyPr wrap="square" lIns="25400" tIns="25400" rIns="25400" bIns="25400" rtlCol="0" anchor="t">
            <a:normAutofit/>
          </a:bodyPr>
          <a:lstStyle/>
          <a:p>
            <a:pPr algn="l" indent="0" marL="0">
              <a:lnSpc>
                <a:spcPct val="97297"/>
              </a:lnSpc>
              <a:buNone/>
            </a:pPr>
            <a:r>
              <a:rPr lang="en-US" sz="4800" spc="-72" kern="0" dirty="0">
                <a:solidFill>
                  <a:srgbClr val="E9E9ED"/>
                </a:solidFill>
                <a:latin typeface="Arial" pitchFamily="34" charset="0"/>
                <a:ea typeface="Arial" pitchFamily="34" charset="-122"/>
                <a:cs typeface="Arial" pitchFamily="34" charset="-120"/>
              </a:rPr>
              <a:t>Un if adentro de otro</a:t>
            </a:r>
            <a:endParaRPr lang="en-US" sz="4800" dirty="0"/>
          </a:p>
        </p:txBody>
      </p:sp>
      <p:sp>
        <p:nvSpPr>
          <p:cNvPr id="5" name="Text 3"/>
          <p:cNvSpPr/>
          <p:nvPr/>
        </p:nvSpPr>
        <p:spPr>
          <a:xfrm>
            <a:off x="1143000" y="3421856"/>
            <a:ext cx="11576685" cy="730895"/>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Un condicional </a:t>
            </a:r>
            <a:pPr algn="l" indent="0" marL="0">
              <a:lnSpc>
                <a:spcPct val="123077"/>
              </a:lnSpc>
              <a:buNone/>
            </a:pPr>
            <a:r>
              <a:rPr lang="en-US" sz="2550" b="1" dirty="0">
                <a:solidFill>
                  <a:srgbClr val="E9E9ED"/>
                </a:solidFill>
                <a:latin typeface="Arial" pitchFamily="34" charset="0"/>
                <a:ea typeface="Arial" pitchFamily="34" charset="-122"/>
                <a:cs typeface="Arial" pitchFamily="34" charset="-120"/>
              </a:rPr>
              <a:t>anidado </a:t>
            </a:r>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es un if colocado dentro del bloque de otro if o else.</a:t>
            </a:r>
            <a:endParaRPr lang="en-US" sz="2550" dirty="0"/>
          </a:p>
        </p:txBody>
      </p:sp>
      <p:sp>
        <p:nvSpPr>
          <p:cNvPr id="6" name="Text 4"/>
          <p:cNvSpPr/>
          <p:nvPr/>
        </p:nvSpPr>
        <p:spPr>
          <a:xfrm>
            <a:off x="1143000" y="4793307"/>
            <a:ext cx="11576685" cy="730895"/>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Cada nivel de anidamiento suma una sangría extra: hay que ser prolijo con la indentación.</a:t>
            </a:r>
            <a:endParaRPr lang="en-US" sz="2550" dirty="0"/>
          </a:p>
        </p:txBody>
      </p:sp>
      <p:sp>
        <p:nvSpPr>
          <p:cNvPr id="7" name="Text 5"/>
          <p:cNvSpPr/>
          <p:nvPr/>
        </p:nvSpPr>
        <p:spPr>
          <a:xfrm>
            <a:off x="1143000" y="6164759"/>
            <a:ext cx="11576685" cy="730895"/>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Es otra forma de manejar varios caminos — alternativa a encadenar con elif.</a:t>
            </a:r>
            <a:endParaRPr lang="en-US" sz="2550" dirty="0"/>
          </a:p>
        </p:txBody>
      </p:sp>
      <p:pic>
        <p:nvPicPr>
          <p:cNvPr id="8" name="Image 0" descr="preencoded.png">    </p:cNvPr>
          <p:cNvPicPr>
            <a:picLocks noChangeAspect="1"/>
          </p:cNvPicPr>
          <p:nvPr/>
        </p:nvPicPr>
        <p:blipFill>
          <a:blip r:embed="rId1"/>
          <a:stretch>
            <a:fillRect/>
          </a:stretch>
        </p:blipFill>
        <p:spPr>
          <a:xfrm>
            <a:off x="13612713" y="9815810"/>
            <a:ext cx="3532287" cy="16639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182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B2741">
                  <a:alpha val="75000"/>
                </a:srgbClr>
              </a:gs>
              <a:gs pos="58000">
                <a:srgbClr val="2B2741">
                  <a:alpha val="0"/>
                </a:srgbClr>
              </a:gs>
            </a:gsLst>
            <a:path path="circle">
              <a:fillToRect l="80000" t="0" r="20000" b="100000"/>
            </a:path>
          </a:gradFill>
          <a:ln/>
        </p:spPr>
      </p:sp>
      <p:sp>
        <p:nvSpPr>
          <p:cNvPr id="3" name="Text 1"/>
          <p:cNvSpPr/>
          <p:nvPr/>
        </p:nvSpPr>
        <p:spPr>
          <a:xfrm>
            <a:off x="1143000" y="748010"/>
            <a:ext cx="5365462" cy="204490"/>
          </a:xfrm>
          <a:prstGeom prst="rect">
            <a:avLst/>
          </a:prstGeom>
          <a:noFill/>
          <a:ln/>
        </p:spPr>
        <p:txBody>
          <a:bodyPr wrap="square" lIns="25400" tIns="25400" rIns="25400" bIns="25400" rtlCol="0" anchor="t">
            <a:normAutofit/>
          </a:bodyPr>
          <a:lstStyle/>
          <a:p>
            <a:pPr algn="l" indent="0" marL="0">
              <a:lnSpc>
                <a:spcPct val="132857"/>
              </a:lnSpc>
              <a:buNone/>
            </a:pPr>
            <a:r>
              <a:rPr lang="en-US" sz="1800" spc="108" kern="0" dirty="0">
                <a:solidFill>
                  <a:srgbClr val="9184D9"/>
                </a:solidFill>
                <a:latin typeface="Arial" pitchFamily="34" charset="0"/>
                <a:ea typeface="Arial" pitchFamily="34" charset="-122"/>
                <a:cs typeface="Arial" pitchFamily="34" charset="-120"/>
              </a:rPr>
              <a:t>EJERCICIO 4 · CONDICIONES ANIDADAS</a:t>
            </a:r>
            <a:endParaRPr lang="en-US" sz="1800" dirty="0"/>
          </a:p>
        </p:txBody>
      </p:sp>
      <p:sp>
        <p:nvSpPr>
          <p:cNvPr id="4" name="Text 2"/>
          <p:cNvSpPr/>
          <p:nvPr/>
        </p:nvSpPr>
        <p:spPr>
          <a:xfrm>
            <a:off x="1106537" y="1842492"/>
            <a:ext cx="17642309" cy="481608"/>
          </a:xfrm>
          <a:prstGeom prst="rect">
            <a:avLst/>
          </a:prstGeom>
          <a:noFill/>
          <a:ln/>
        </p:spPr>
        <p:txBody>
          <a:bodyPr wrap="square" lIns="25400" tIns="25400" rIns="25400" bIns="25400" rtlCol="0" anchor="t">
            <a:normAutofit/>
          </a:bodyPr>
          <a:lstStyle/>
          <a:p>
            <a:pPr algn="l" indent="0" marL="0">
              <a:lnSpc>
                <a:spcPct val="97297"/>
              </a:lnSpc>
              <a:buNone/>
            </a:pPr>
            <a:r>
              <a:rPr lang="en-US" sz="4800" spc="-72" kern="0" dirty="0">
                <a:solidFill>
                  <a:srgbClr val="E9E9ED"/>
                </a:solidFill>
                <a:latin typeface="Arial" pitchFamily="34" charset="0"/>
                <a:ea typeface="Arial" pitchFamily="34" charset="-122"/>
                <a:cs typeface="Arial" pitchFamily="34" charset="-120"/>
              </a:rPr>
              <a:t>Código y seguimiento</a:t>
            </a:r>
            <a:endParaRPr lang="en-US" sz="4800" dirty="0"/>
          </a:p>
        </p:txBody>
      </p:sp>
      <p:sp>
        <p:nvSpPr>
          <p:cNvPr id="5" name="Shape 3"/>
          <p:cNvSpPr/>
          <p:nvPr/>
        </p:nvSpPr>
        <p:spPr>
          <a:xfrm>
            <a:off x="1143000" y="3487341"/>
            <a:ext cx="14097000" cy="5139928"/>
          </a:xfrm>
          <a:prstGeom prst="roundRect">
            <a:avLst>
              <a:gd name="adj" fmla="val 1483"/>
            </a:avLst>
          </a:prstGeom>
          <a:solidFill>
            <a:srgbClr val="3F424D"/>
          </a:solidFill>
          <a:ln w="9525">
            <a:solidFill>
              <a:srgbClr val="E6E6EC">
                <a:alpha val="16000"/>
              </a:srgbClr>
            </a:solidFill>
            <a:prstDash val="solid"/>
          </a:ln>
          <a:effectLst>
            <a:outerShdw sx="100000" sy="100000" kx="0" ky="0" algn="bl" rotWithShape="0" blurRad="101600" dist="50800" dir="16200000">
              <a:srgbClr val="3F424D">
                <a:alpha val="100000"/>
              </a:srgbClr>
            </a:outerShdw>
          </a:effectLst>
        </p:spPr>
      </p:sp>
      <p:sp>
        <p:nvSpPr>
          <p:cNvPr id="6" name="Text 4"/>
          <p:cNvSpPr/>
          <p:nvPr/>
        </p:nvSpPr>
        <p:spPr>
          <a:xfrm>
            <a:off x="1533525" y="3954066"/>
            <a:ext cx="13738860" cy="4244578"/>
          </a:xfrm>
          <a:prstGeom prst="rect">
            <a:avLst/>
          </a:prstGeom>
          <a:noFill/>
          <a:ln/>
        </p:spPr>
        <p:txBody>
          <a:bodyPr wrap="none" lIns="25400" tIns="25400" rIns="25400" bIns="25400" rtlCol="0" anchor="t">
            <a:normAutofit/>
          </a:bodyPr>
          <a:lstStyle/>
          <a:p>
            <a:pPr algn="l" indent="0" marL="0">
              <a:lnSpc>
                <a:spcPct val="178065"/>
              </a:lnSpc>
              <a:buNone/>
            </a:pPr>
            <a:r>
              <a:rPr lang="en-US" sz="2100" dirty="0">
                <a:solidFill>
                  <a:srgbClr val="9184D9"/>
                </a:solidFill>
                <a:latin typeface="Courier New" pitchFamily="34" charset="0"/>
                <a:ea typeface="Courier New" pitchFamily="34" charset="-122"/>
                <a:cs typeface="Courier New" pitchFamily="34" charset="-120"/>
              </a:rPr>
              <a:t>nota</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 </a:t>
            </a:r>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float</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pPr algn="l" indent="0" marL="0">
              <a:lnSpc>
                <a:spcPct val="178065"/>
              </a:lnSpc>
              <a:buNone/>
            </a:pPr>
            <a:r>
              <a:rPr lang="en-US" sz="2100" dirty="0">
                <a:solidFill>
                  <a:srgbClr val="9184D9"/>
                </a:solidFill>
                <a:latin typeface="Courier New" pitchFamily="34" charset="0"/>
                <a:ea typeface="Courier New" pitchFamily="34" charset="-122"/>
                <a:cs typeface="Courier New" pitchFamily="34" charset="-120"/>
              </a:rPr>
              <a:t>input</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"Ingresa tu nota: "</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a:t>
            </a:r>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if</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nota &gt;= </a:t>
            </a:r>
            <a:pPr algn="l" indent="0" marL="0">
              <a:lnSpc>
                <a:spcPct val="178065"/>
              </a:lnSpc>
              <a:buNone/>
            </a:pPr>
            <a:r>
              <a:rPr lang="en-US" sz="2100" dirty="0">
                <a:solidFill>
                  <a:srgbClr val="F3F5FE"/>
                </a:solidFill>
                <a:latin typeface="Courier New" pitchFamily="34" charset="0"/>
                <a:ea typeface="Courier New" pitchFamily="34" charset="-122"/>
                <a:cs typeface="Courier New" pitchFamily="34" charset="-120"/>
              </a:rPr>
              <a:t>9 </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endParaRPr lang="en-US" sz="2100" dirty="0"/>
          </a:p>
          <a:p>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a:t>
            </a:r>
            <a:endParaRPr lang="en-US" sz="2100" dirty="0"/>
          </a:p>
          <a:p>
            <a:pPr algn="l" indent="0" marL="0">
              <a:lnSpc>
                <a:spcPct val="178065"/>
              </a:lnSpc>
              <a:buNone/>
            </a:pPr>
            <a:r>
              <a:rPr lang="en-US" sz="2100" dirty="0">
                <a:solidFill>
                  <a:srgbClr val="9184D9"/>
                </a:solidFill>
                <a:latin typeface="Courier New" pitchFamily="34" charset="0"/>
                <a:ea typeface="Courier New" pitchFamily="34" charset="-122"/>
                <a:cs typeface="Courier New" pitchFamily="34" charset="-120"/>
              </a:rPr>
              <a:t>print</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"Excelente"</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a:t>
            </a:r>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else </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endParaRPr lang="en-US" sz="2100" dirty="0"/>
          </a:p>
          <a:p>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a:t>
            </a:r>
            <a:endParaRPr lang="en-US" sz="2100" dirty="0"/>
          </a:p>
          <a:p>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if</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nota &gt;= </a:t>
            </a:r>
            <a:pPr algn="l" indent="0" marL="0">
              <a:lnSpc>
                <a:spcPct val="178065"/>
              </a:lnSpc>
              <a:buNone/>
            </a:pPr>
            <a:r>
              <a:rPr lang="en-US" sz="2100" dirty="0">
                <a:solidFill>
                  <a:srgbClr val="F3F5FE"/>
                </a:solidFill>
                <a:latin typeface="Courier New" pitchFamily="34" charset="0"/>
                <a:ea typeface="Courier New" pitchFamily="34" charset="-122"/>
                <a:cs typeface="Courier New" pitchFamily="34" charset="-120"/>
              </a:rPr>
              <a:t>6 </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endParaRPr lang="en-US" sz="2100" dirty="0"/>
          </a:p>
          <a:p>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a:t>
            </a:r>
            <a:endParaRPr lang="en-US" sz="2100" dirty="0"/>
          </a:p>
          <a:p>
            <a:pPr algn="l" indent="0" marL="0">
              <a:lnSpc>
                <a:spcPct val="178065"/>
              </a:lnSpc>
              <a:buNone/>
            </a:pPr>
            <a:r>
              <a:rPr lang="en-US" sz="2100" dirty="0">
                <a:solidFill>
                  <a:srgbClr val="9184D9"/>
                </a:solidFill>
                <a:latin typeface="Courier New" pitchFamily="34" charset="0"/>
                <a:ea typeface="Courier New" pitchFamily="34" charset="-122"/>
                <a:cs typeface="Courier New" pitchFamily="34" charset="-120"/>
              </a:rPr>
              <a:t>print</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"Aprobado" </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endParaRPr lang="en-US" sz="2100" dirty="0"/>
          </a:p>
          <a:p>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a:t>
            </a:r>
            <a:endParaRPr lang="en-US" sz="2100" dirty="0"/>
          </a:p>
          <a:p>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else </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endParaRPr lang="en-US" sz="2100" dirty="0"/>
          </a:p>
          <a:p>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a:t>
            </a:r>
            <a:endParaRPr lang="en-US" sz="2100" dirty="0"/>
          </a:p>
          <a:p>
            <a:pPr algn="l" indent="0" marL="0">
              <a:lnSpc>
                <a:spcPct val="178065"/>
              </a:lnSpc>
              <a:buNone/>
            </a:pPr>
            <a:r>
              <a:rPr lang="en-US" sz="2100" dirty="0">
                <a:solidFill>
                  <a:srgbClr val="9184D9"/>
                </a:solidFill>
                <a:latin typeface="Courier New" pitchFamily="34" charset="0"/>
                <a:ea typeface="Courier New" pitchFamily="34" charset="-122"/>
                <a:cs typeface="Courier New" pitchFamily="34" charset="-120"/>
              </a:rPr>
              <a:t>print</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"Desaprobado"</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endParaRPr lang="en-US" sz="2100" dirty="0"/>
          </a:p>
        </p:txBody>
      </p:sp>
      <p:sp>
        <p:nvSpPr>
          <p:cNvPr id="7" name="Text 5"/>
          <p:cNvSpPr/>
          <p:nvPr/>
        </p:nvSpPr>
        <p:spPr>
          <a:xfrm>
            <a:off x="1143000" y="9361438"/>
            <a:ext cx="13404652" cy="218331"/>
          </a:xfrm>
          <a:prstGeom prst="rect">
            <a:avLst/>
          </a:prstGeom>
          <a:noFill/>
          <a:ln/>
        </p:spPr>
        <p:txBody>
          <a:bodyPr wrap="square" lIns="25400" tIns="25400" rIns="25400" bIns="25400" rtlCol="0" anchor="t">
            <a:normAutofit/>
          </a:bodyPr>
          <a:lstStyle/>
          <a:p>
            <a:pPr algn="l" indent="0" marL="0">
              <a:lnSpc>
                <a:spcPct val="154839"/>
              </a:lnSpc>
              <a:buNone/>
            </a:pPr>
            <a:r>
              <a:rPr lang="en-US" sz="1950" dirty="0">
                <a:solidFill>
                  <a:srgbClr val="E9E9ED">
                    <a:alpha val="55000"/>
                  </a:srgbClr>
                </a:solidFill>
                <a:latin typeface="Arial" pitchFamily="34" charset="0"/>
                <a:ea typeface="Arial" pitchFamily="34" charset="-122"/>
                <a:cs typeface="Arial" pitchFamily="34" charset="-120"/>
              </a:rPr>
              <a:t>nota = 9.5 → Excelente · nota = 7 → Aprobado · nota = 4 → Desaprobado</a:t>
            </a:r>
            <a:endParaRPr lang="en-US" sz="1950" dirty="0"/>
          </a:p>
        </p:txBody>
      </p:sp>
      <p:pic>
        <p:nvPicPr>
          <p:cNvPr id="8" name="Image 0" descr="preencoded.png">    </p:cNvPr>
          <p:cNvPicPr>
            <a:picLocks noChangeAspect="1"/>
          </p:cNvPicPr>
          <p:nvPr/>
        </p:nvPicPr>
        <p:blipFill>
          <a:blip r:embed="rId1"/>
          <a:stretch>
            <a:fillRect/>
          </a:stretch>
        </p:blipFill>
        <p:spPr>
          <a:xfrm>
            <a:off x="13612713" y="9815810"/>
            <a:ext cx="3532287" cy="16639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182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B2741">
                  <a:alpha val="75000"/>
                </a:srgbClr>
              </a:gs>
              <a:gs pos="58000">
                <a:srgbClr val="2B2741">
                  <a:alpha val="0"/>
                </a:srgbClr>
              </a:gs>
            </a:gsLst>
            <a:path path="circle">
              <a:fillToRect l="80000" t="0" r="20000" b="100000"/>
            </a:path>
          </a:gradFill>
          <a:ln/>
        </p:spPr>
      </p:sp>
      <p:sp>
        <p:nvSpPr>
          <p:cNvPr id="3" name="Text 1"/>
          <p:cNvSpPr/>
          <p:nvPr/>
        </p:nvSpPr>
        <p:spPr>
          <a:xfrm>
            <a:off x="1143000" y="748010"/>
            <a:ext cx="5098122" cy="204490"/>
          </a:xfrm>
          <a:prstGeom prst="rect">
            <a:avLst/>
          </a:prstGeom>
          <a:noFill/>
          <a:ln/>
        </p:spPr>
        <p:txBody>
          <a:bodyPr wrap="square" lIns="25400" tIns="25400" rIns="25400" bIns="25400" rtlCol="0" anchor="t">
            <a:normAutofit/>
          </a:bodyPr>
          <a:lstStyle/>
          <a:p>
            <a:pPr algn="l" indent="0" marL="0">
              <a:lnSpc>
                <a:spcPct val="132857"/>
              </a:lnSpc>
              <a:buNone/>
            </a:pPr>
            <a:r>
              <a:rPr lang="en-US" sz="1800" spc="108" kern="0" dirty="0">
                <a:solidFill>
                  <a:srgbClr val="9184D9"/>
                </a:solidFill>
                <a:latin typeface="Arial" pitchFamily="34" charset="0"/>
                <a:ea typeface="Arial" pitchFamily="34" charset="-122"/>
                <a:cs typeface="Arial" pitchFamily="34" charset="-120"/>
              </a:rPr>
              <a:t>EJERCICIO 5 · OPERADORES LÓGICOS</a:t>
            </a:r>
            <a:endParaRPr lang="en-US" sz="1800" dirty="0"/>
          </a:p>
        </p:txBody>
      </p:sp>
      <p:sp>
        <p:nvSpPr>
          <p:cNvPr id="4" name="Text 2"/>
          <p:cNvSpPr/>
          <p:nvPr/>
        </p:nvSpPr>
        <p:spPr>
          <a:xfrm>
            <a:off x="1106537" y="1842492"/>
            <a:ext cx="17642309" cy="481608"/>
          </a:xfrm>
          <a:prstGeom prst="rect">
            <a:avLst/>
          </a:prstGeom>
          <a:noFill/>
          <a:ln/>
        </p:spPr>
        <p:txBody>
          <a:bodyPr wrap="square" lIns="25400" tIns="25400" rIns="25400" bIns="25400" rtlCol="0" anchor="t">
            <a:normAutofit/>
          </a:bodyPr>
          <a:lstStyle/>
          <a:p>
            <a:pPr algn="l" indent="0" marL="0">
              <a:lnSpc>
                <a:spcPct val="97297"/>
              </a:lnSpc>
              <a:buNone/>
            </a:pPr>
            <a:r>
              <a:rPr lang="en-US" sz="4800" spc="-72" kern="0" dirty="0">
                <a:solidFill>
                  <a:srgbClr val="E9E9ED"/>
                </a:solidFill>
                <a:latin typeface="Arial" pitchFamily="34" charset="0"/>
                <a:ea typeface="Arial" pitchFamily="34" charset="-122"/>
                <a:cs typeface="Arial" pitchFamily="34" charset="-120"/>
              </a:rPr>
              <a:t>and, or y not</a:t>
            </a:r>
            <a:endParaRPr lang="en-US" sz="4800" dirty="0"/>
          </a:p>
        </p:txBody>
      </p:sp>
      <p:sp>
        <p:nvSpPr>
          <p:cNvPr id="5" name="Text 3"/>
          <p:cNvSpPr/>
          <p:nvPr/>
        </p:nvSpPr>
        <p:spPr>
          <a:xfrm>
            <a:off x="1143000" y="3570963"/>
            <a:ext cx="785068" cy="196788"/>
          </a:xfrm>
          <a:prstGeom prst="rect">
            <a:avLst/>
          </a:prstGeom>
          <a:noFill/>
          <a:ln/>
        </p:spPr>
        <p:txBody>
          <a:bodyPr wrap="square" lIns="25400" tIns="25400" rIns="25400" bIns="25400" rtlCol="0" anchor="ctr">
            <a:normAutofit/>
          </a:bodyPr>
          <a:lstStyle/>
          <a:p>
            <a:pPr algn="l" indent="0" marL="0">
              <a:lnSpc>
                <a:spcPct val="132857"/>
              </a:lnSpc>
              <a:buNone/>
            </a:pPr>
            <a:r>
              <a:rPr lang="en-US" sz="1800" b="1" spc="144" kern="0" dirty="0">
                <a:solidFill>
                  <a:srgbClr val="E9E9ED">
                    <a:alpha val="60000"/>
                  </a:srgbClr>
                </a:solidFill>
                <a:latin typeface="Arial" pitchFamily="34" charset="0"/>
                <a:ea typeface="Arial" pitchFamily="34" charset="-122"/>
                <a:cs typeface="Arial" pitchFamily="34" charset="-120"/>
              </a:rPr>
              <a:t>A</a:t>
            </a:r>
            <a:endParaRPr lang="en-US" sz="1800" dirty="0"/>
          </a:p>
        </p:txBody>
      </p:sp>
      <p:sp>
        <p:nvSpPr>
          <p:cNvPr id="6" name="Text 4"/>
          <p:cNvSpPr/>
          <p:nvPr/>
        </p:nvSpPr>
        <p:spPr>
          <a:xfrm>
            <a:off x="2385268" y="3570963"/>
            <a:ext cx="2671343" cy="196788"/>
          </a:xfrm>
          <a:prstGeom prst="rect">
            <a:avLst/>
          </a:prstGeom>
          <a:noFill/>
          <a:ln/>
        </p:spPr>
        <p:txBody>
          <a:bodyPr wrap="square" lIns="25400" tIns="25400" rIns="25400" bIns="25400" rtlCol="0" anchor="ctr">
            <a:normAutofit/>
          </a:bodyPr>
          <a:lstStyle/>
          <a:p>
            <a:pPr algn="l" indent="0" marL="0">
              <a:lnSpc>
                <a:spcPct val="132857"/>
              </a:lnSpc>
              <a:buNone/>
            </a:pPr>
            <a:r>
              <a:rPr lang="en-US" sz="1800" b="1" spc="144" kern="0" dirty="0">
                <a:solidFill>
                  <a:srgbClr val="E9E9ED">
                    <a:alpha val="60000"/>
                  </a:srgbClr>
                </a:solidFill>
                <a:latin typeface="Arial" pitchFamily="34" charset="0"/>
                <a:ea typeface="Arial" pitchFamily="34" charset="-122"/>
                <a:cs typeface="Arial" pitchFamily="34" charset="-120"/>
              </a:rPr>
              <a:t>B</a:t>
            </a:r>
            <a:endParaRPr lang="en-US" sz="1800" dirty="0"/>
          </a:p>
        </p:txBody>
      </p:sp>
      <p:sp>
        <p:nvSpPr>
          <p:cNvPr id="7" name="Text 5"/>
          <p:cNvSpPr/>
          <p:nvPr/>
        </p:nvSpPr>
        <p:spPr>
          <a:xfrm>
            <a:off x="5496669" y="3570963"/>
            <a:ext cx="3467700" cy="196788"/>
          </a:xfrm>
          <a:prstGeom prst="rect">
            <a:avLst/>
          </a:prstGeom>
          <a:noFill/>
          <a:ln/>
        </p:spPr>
        <p:txBody>
          <a:bodyPr wrap="square" lIns="25400" tIns="25400" rIns="25400" bIns="25400" rtlCol="0" anchor="ctr">
            <a:normAutofit/>
          </a:bodyPr>
          <a:lstStyle/>
          <a:p>
            <a:pPr algn="l" indent="0" marL="0">
              <a:lnSpc>
                <a:spcPct val="132857"/>
              </a:lnSpc>
              <a:buNone/>
            </a:pPr>
            <a:r>
              <a:rPr lang="en-US" sz="1800" b="1" spc="144" kern="0" dirty="0">
                <a:solidFill>
                  <a:srgbClr val="E9E9ED">
                    <a:alpha val="60000"/>
                  </a:srgbClr>
                </a:solidFill>
                <a:latin typeface="Arial" pitchFamily="34" charset="0"/>
                <a:ea typeface="Arial" pitchFamily="34" charset="-122"/>
                <a:cs typeface="Arial" pitchFamily="34" charset="-120"/>
              </a:rPr>
              <a:t>A AND B</a:t>
            </a:r>
            <a:endParaRPr lang="en-US" sz="1800" dirty="0"/>
          </a:p>
        </p:txBody>
      </p:sp>
      <p:sp>
        <p:nvSpPr>
          <p:cNvPr id="8" name="Text 6"/>
          <p:cNvSpPr/>
          <p:nvPr/>
        </p:nvSpPr>
        <p:spPr>
          <a:xfrm>
            <a:off x="9381232" y="3570963"/>
            <a:ext cx="3092592" cy="196788"/>
          </a:xfrm>
          <a:prstGeom prst="rect">
            <a:avLst/>
          </a:prstGeom>
          <a:noFill/>
          <a:ln/>
        </p:spPr>
        <p:txBody>
          <a:bodyPr wrap="square" lIns="25400" tIns="25400" rIns="25400" bIns="25400" rtlCol="0" anchor="ctr">
            <a:normAutofit/>
          </a:bodyPr>
          <a:lstStyle/>
          <a:p>
            <a:pPr algn="l" indent="0" marL="0">
              <a:lnSpc>
                <a:spcPct val="132857"/>
              </a:lnSpc>
              <a:buNone/>
            </a:pPr>
            <a:r>
              <a:rPr lang="en-US" sz="1800" b="1" spc="144" kern="0" dirty="0">
                <a:solidFill>
                  <a:srgbClr val="E9E9ED">
                    <a:alpha val="60000"/>
                  </a:srgbClr>
                </a:solidFill>
                <a:latin typeface="Arial" pitchFamily="34" charset="0"/>
                <a:ea typeface="Arial" pitchFamily="34" charset="-122"/>
                <a:cs typeface="Arial" pitchFamily="34" charset="-120"/>
              </a:rPr>
              <a:t>A OR B</a:t>
            </a:r>
            <a:endParaRPr lang="en-US" sz="1800" dirty="0"/>
          </a:p>
        </p:txBody>
      </p:sp>
      <p:sp>
        <p:nvSpPr>
          <p:cNvPr id="9" name="Text 7"/>
          <p:cNvSpPr/>
          <p:nvPr/>
        </p:nvSpPr>
        <p:spPr>
          <a:xfrm>
            <a:off x="12901613" y="3570963"/>
            <a:ext cx="2416540" cy="196788"/>
          </a:xfrm>
          <a:prstGeom prst="rect">
            <a:avLst/>
          </a:prstGeom>
          <a:noFill/>
          <a:ln/>
        </p:spPr>
        <p:txBody>
          <a:bodyPr wrap="square" lIns="25400" tIns="25400" rIns="25400" bIns="25400" rtlCol="0" anchor="ctr">
            <a:normAutofit/>
          </a:bodyPr>
          <a:lstStyle/>
          <a:p>
            <a:pPr algn="l" indent="0" marL="0">
              <a:lnSpc>
                <a:spcPct val="132857"/>
              </a:lnSpc>
              <a:buNone/>
            </a:pPr>
            <a:r>
              <a:rPr lang="en-US" sz="1800" b="1" spc="144" kern="0" dirty="0">
                <a:solidFill>
                  <a:srgbClr val="E9E9ED">
                    <a:alpha val="60000"/>
                  </a:srgbClr>
                </a:solidFill>
                <a:latin typeface="Arial" pitchFamily="34" charset="0"/>
                <a:ea typeface="Arial" pitchFamily="34" charset="-122"/>
                <a:cs typeface="Arial" pitchFamily="34" charset="-120"/>
              </a:rPr>
              <a:t>NOT A</a:t>
            </a:r>
            <a:endParaRPr lang="en-US" sz="1800" dirty="0"/>
          </a:p>
        </p:txBody>
      </p:sp>
      <p:sp>
        <p:nvSpPr>
          <p:cNvPr id="10" name="Text 8"/>
          <p:cNvSpPr/>
          <p:nvPr/>
        </p:nvSpPr>
        <p:spPr>
          <a:xfrm>
            <a:off x="1143000" y="4458230"/>
            <a:ext cx="785068" cy="245846"/>
          </a:xfrm>
          <a:prstGeom prst="rect">
            <a:avLst/>
          </a:prstGeom>
          <a:noFill/>
          <a:ln/>
        </p:spPr>
        <p:txBody>
          <a:bodyPr wrap="square" lIns="25400" tIns="25400" rIns="25400" bIns="25400" rtlCol="0" anchor="ctr">
            <a:normAutofit/>
          </a:bodyPr>
          <a:lstStyle/>
          <a:p>
            <a:pPr algn="l" indent="0" marL="0">
              <a:lnSpc>
                <a:spcPct val="136765"/>
              </a:lnSpc>
              <a:buNone/>
            </a:pPr>
            <a:r>
              <a:rPr lang="en-US" sz="2250" dirty="0">
                <a:solidFill>
                  <a:srgbClr val="E9E9ED"/>
                </a:solidFill>
                <a:latin typeface="Arial" pitchFamily="34" charset="0"/>
                <a:ea typeface="Arial" pitchFamily="34" charset="-122"/>
                <a:cs typeface="Arial" pitchFamily="34" charset="-120"/>
              </a:rPr>
              <a:t>True</a:t>
            </a:r>
            <a:endParaRPr lang="en-US" sz="2250" dirty="0"/>
          </a:p>
        </p:txBody>
      </p:sp>
      <p:sp>
        <p:nvSpPr>
          <p:cNvPr id="11" name="Text 9"/>
          <p:cNvSpPr/>
          <p:nvPr/>
        </p:nvSpPr>
        <p:spPr>
          <a:xfrm>
            <a:off x="2385268" y="4458230"/>
            <a:ext cx="2671343" cy="245846"/>
          </a:xfrm>
          <a:prstGeom prst="rect">
            <a:avLst/>
          </a:prstGeom>
          <a:noFill/>
          <a:ln/>
        </p:spPr>
        <p:txBody>
          <a:bodyPr wrap="square" lIns="25400" tIns="25400" rIns="25400" bIns="25400" rtlCol="0" anchor="ctr">
            <a:normAutofit/>
          </a:bodyPr>
          <a:lstStyle/>
          <a:p>
            <a:pPr algn="l" indent="0" marL="0">
              <a:lnSpc>
                <a:spcPct val="136765"/>
              </a:lnSpc>
              <a:buNone/>
            </a:pPr>
            <a:r>
              <a:rPr lang="en-US" sz="2250" dirty="0">
                <a:solidFill>
                  <a:srgbClr val="E9E9ED"/>
                </a:solidFill>
                <a:latin typeface="Arial" pitchFamily="34" charset="0"/>
                <a:ea typeface="Arial" pitchFamily="34" charset="-122"/>
                <a:cs typeface="Arial" pitchFamily="34" charset="-120"/>
              </a:rPr>
              <a:t>True</a:t>
            </a:r>
            <a:endParaRPr lang="en-US" sz="2250" dirty="0"/>
          </a:p>
        </p:txBody>
      </p:sp>
      <p:sp>
        <p:nvSpPr>
          <p:cNvPr id="12" name="Text 10"/>
          <p:cNvSpPr/>
          <p:nvPr/>
        </p:nvSpPr>
        <p:spPr>
          <a:xfrm>
            <a:off x="5496669" y="4458230"/>
            <a:ext cx="3467700" cy="245846"/>
          </a:xfrm>
          <a:prstGeom prst="rect">
            <a:avLst/>
          </a:prstGeom>
          <a:noFill/>
          <a:ln/>
        </p:spPr>
        <p:txBody>
          <a:bodyPr wrap="square" lIns="25400" tIns="25400" rIns="25400" bIns="25400" rtlCol="0" anchor="ctr">
            <a:normAutofit/>
          </a:bodyPr>
          <a:lstStyle/>
          <a:p>
            <a:pPr algn="l" indent="0" marL="0">
              <a:lnSpc>
                <a:spcPct val="136765"/>
              </a:lnSpc>
              <a:buNone/>
            </a:pPr>
            <a:r>
              <a:rPr lang="en-US" sz="2250" dirty="0">
                <a:solidFill>
                  <a:srgbClr val="E9E9ED"/>
                </a:solidFill>
                <a:latin typeface="Arial" pitchFamily="34" charset="0"/>
                <a:ea typeface="Arial" pitchFamily="34" charset="-122"/>
                <a:cs typeface="Arial" pitchFamily="34" charset="-120"/>
              </a:rPr>
              <a:t>True</a:t>
            </a:r>
            <a:endParaRPr lang="en-US" sz="2250" dirty="0"/>
          </a:p>
        </p:txBody>
      </p:sp>
      <p:sp>
        <p:nvSpPr>
          <p:cNvPr id="13" name="Text 11"/>
          <p:cNvSpPr/>
          <p:nvPr/>
        </p:nvSpPr>
        <p:spPr>
          <a:xfrm>
            <a:off x="9381232" y="4458230"/>
            <a:ext cx="3092592" cy="245846"/>
          </a:xfrm>
          <a:prstGeom prst="rect">
            <a:avLst/>
          </a:prstGeom>
          <a:noFill/>
          <a:ln/>
        </p:spPr>
        <p:txBody>
          <a:bodyPr wrap="square" lIns="25400" tIns="25400" rIns="25400" bIns="25400" rtlCol="0" anchor="ctr">
            <a:normAutofit/>
          </a:bodyPr>
          <a:lstStyle/>
          <a:p>
            <a:pPr algn="l" indent="0" marL="0">
              <a:lnSpc>
                <a:spcPct val="136765"/>
              </a:lnSpc>
              <a:buNone/>
            </a:pPr>
            <a:r>
              <a:rPr lang="en-US" sz="2250" dirty="0">
                <a:solidFill>
                  <a:srgbClr val="E9E9ED"/>
                </a:solidFill>
                <a:latin typeface="Arial" pitchFamily="34" charset="0"/>
                <a:ea typeface="Arial" pitchFamily="34" charset="-122"/>
                <a:cs typeface="Arial" pitchFamily="34" charset="-120"/>
              </a:rPr>
              <a:t>True</a:t>
            </a:r>
            <a:endParaRPr lang="en-US" sz="2250" dirty="0"/>
          </a:p>
        </p:txBody>
      </p:sp>
      <p:sp>
        <p:nvSpPr>
          <p:cNvPr id="14" name="Text 12"/>
          <p:cNvSpPr/>
          <p:nvPr/>
        </p:nvSpPr>
        <p:spPr>
          <a:xfrm>
            <a:off x="12901613" y="4458230"/>
            <a:ext cx="2416540" cy="245846"/>
          </a:xfrm>
          <a:prstGeom prst="rect">
            <a:avLst/>
          </a:prstGeom>
          <a:noFill/>
          <a:ln/>
        </p:spPr>
        <p:txBody>
          <a:bodyPr wrap="square" lIns="25400" tIns="25400" rIns="25400" bIns="25400" rtlCol="0" anchor="ctr">
            <a:normAutofit/>
          </a:bodyPr>
          <a:lstStyle/>
          <a:p>
            <a:pPr algn="l" indent="0" marL="0">
              <a:lnSpc>
                <a:spcPct val="136765"/>
              </a:lnSpc>
              <a:buNone/>
            </a:pPr>
            <a:r>
              <a:rPr lang="en-US" sz="2250" dirty="0">
                <a:solidFill>
                  <a:srgbClr val="E9E9ED"/>
                </a:solidFill>
                <a:latin typeface="Arial" pitchFamily="34" charset="0"/>
                <a:ea typeface="Arial" pitchFamily="34" charset="-122"/>
                <a:cs typeface="Arial" pitchFamily="34" charset="-120"/>
              </a:rPr>
              <a:t>False</a:t>
            </a:r>
            <a:endParaRPr lang="en-US" sz="2250" dirty="0"/>
          </a:p>
        </p:txBody>
      </p:sp>
      <p:sp>
        <p:nvSpPr>
          <p:cNvPr id="15" name="Text 13"/>
          <p:cNvSpPr/>
          <p:nvPr/>
        </p:nvSpPr>
        <p:spPr>
          <a:xfrm>
            <a:off x="1143000" y="5372481"/>
            <a:ext cx="785068" cy="245846"/>
          </a:xfrm>
          <a:prstGeom prst="rect">
            <a:avLst/>
          </a:prstGeom>
          <a:noFill/>
          <a:ln/>
        </p:spPr>
        <p:txBody>
          <a:bodyPr wrap="square" lIns="25400" tIns="25400" rIns="25400" bIns="25400" rtlCol="0" anchor="ctr">
            <a:normAutofit/>
          </a:bodyPr>
          <a:lstStyle/>
          <a:p>
            <a:pPr algn="l" indent="0" marL="0">
              <a:lnSpc>
                <a:spcPct val="136765"/>
              </a:lnSpc>
              <a:buNone/>
            </a:pPr>
            <a:r>
              <a:rPr lang="en-US" sz="2250" dirty="0">
                <a:solidFill>
                  <a:srgbClr val="E9E9ED"/>
                </a:solidFill>
                <a:latin typeface="Arial" pitchFamily="34" charset="0"/>
                <a:ea typeface="Arial" pitchFamily="34" charset="-122"/>
                <a:cs typeface="Arial" pitchFamily="34" charset="-120"/>
              </a:rPr>
              <a:t>True</a:t>
            </a:r>
            <a:endParaRPr lang="en-US" sz="2250" dirty="0"/>
          </a:p>
        </p:txBody>
      </p:sp>
      <p:sp>
        <p:nvSpPr>
          <p:cNvPr id="16" name="Text 14"/>
          <p:cNvSpPr/>
          <p:nvPr/>
        </p:nvSpPr>
        <p:spPr>
          <a:xfrm>
            <a:off x="2385268" y="5372481"/>
            <a:ext cx="2671343" cy="245846"/>
          </a:xfrm>
          <a:prstGeom prst="rect">
            <a:avLst/>
          </a:prstGeom>
          <a:noFill/>
          <a:ln/>
        </p:spPr>
        <p:txBody>
          <a:bodyPr wrap="square" lIns="25400" tIns="25400" rIns="25400" bIns="25400" rtlCol="0" anchor="ctr">
            <a:normAutofit/>
          </a:bodyPr>
          <a:lstStyle/>
          <a:p>
            <a:pPr algn="l" indent="0" marL="0">
              <a:lnSpc>
                <a:spcPct val="136765"/>
              </a:lnSpc>
              <a:buNone/>
            </a:pPr>
            <a:r>
              <a:rPr lang="en-US" sz="2250" dirty="0">
                <a:solidFill>
                  <a:srgbClr val="E9E9ED"/>
                </a:solidFill>
                <a:latin typeface="Arial" pitchFamily="34" charset="0"/>
                <a:ea typeface="Arial" pitchFamily="34" charset="-122"/>
                <a:cs typeface="Arial" pitchFamily="34" charset="-120"/>
              </a:rPr>
              <a:t>False</a:t>
            </a:r>
            <a:endParaRPr lang="en-US" sz="2250" dirty="0"/>
          </a:p>
        </p:txBody>
      </p:sp>
      <p:sp>
        <p:nvSpPr>
          <p:cNvPr id="17" name="Text 15"/>
          <p:cNvSpPr/>
          <p:nvPr/>
        </p:nvSpPr>
        <p:spPr>
          <a:xfrm>
            <a:off x="5496669" y="5372481"/>
            <a:ext cx="3467700" cy="245846"/>
          </a:xfrm>
          <a:prstGeom prst="rect">
            <a:avLst/>
          </a:prstGeom>
          <a:noFill/>
          <a:ln/>
        </p:spPr>
        <p:txBody>
          <a:bodyPr wrap="square" lIns="25400" tIns="25400" rIns="25400" bIns="25400" rtlCol="0" anchor="ctr">
            <a:normAutofit/>
          </a:bodyPr>
          <a:lstStyle/>
          <a:p>
            <a:pPr algn="l" indent="0" marL="0">
              <a:lnSpc>
                <a:spcPct val="136765"/>
              </a:lnSpc>
              <a:buNone/>
            </a:pPr>
            <a:r>
              <a:rPr lang="en-US" sz="2250" dirty="0">
                <a:solidFill>
                  <a:srgbClr val="E9E9ED"/>
                </a:solidFill>
                <a:latin typeface="Arial" pitchFamily="34" charset="0"/>
                <a:ea typeface="Arial" pitchFamily="34" charset="-122"/>
                <a:cs typeface="Arial" pitchFamily="34" charset="-120"/>
              </a:rPr>
              <a:t>False</a:t>
            </a:r>
            <a:endParaRPr lang="en-US" sz="2250" dirty="0"/>
          </a:p>
        </p:txBody>
      </p:sp>
      <p:sp>
        <p:nvSpPr>
          <p:cNvPr id="18" name="Text 16"/>
          <p:cNvSpPr/>
          <p:nvPr/>
        </p:nvSpPr>
        <p:spPr>
          <a:xfrm>
            <a:off x="9381232" y="5372481"/>
            <a:ext cx="3092592" cy="245846"/>
          </a:xfrm>
          <a:prstGeom prst="rect">
            <a:avLst/>
          </a:prstGeom>
          <a:noFill/>
          <a:ln/>
        </p:spPr>
        <p:txBody>
          <a:bodyPr wrap="square" lIns="25400" tIns="25400" rIns="25400" bIns="25400" rtlCol="0" anchor="ctr">
            <a:normAutofit/>
          </a:bodyPr>
          <a:lstStyle/>
          <a:p>
            <a:pPr algn="l" indent="0" marL="0">
              <a:lnSpc>
                <a:spcPct val="136765"/>
              </a:lnSpc>
              <a:buNone/>
            </a:pPr>
            <a:r>
              <a:rPr lang="en-US" sz="2250" dirty="0">
                <a:solidFill>
                  <a:srgbClr val="E9E9ED"/>
                </a:solidFill>
                <a:latin typeface="Arial" pitchFamily="34" charset="0"/>
                <a:ea typeface="Arial" pitchFamily="34" charset="-122"/>
                <a:cs typeface="Arial" pitchFamily="34" charset="-120"/>
              </a:rPr>
              <a:t>True</a:t>
            </a:r>
            <a:endParaRPr lang="en-US" sz="2250" dirty="0"/>
          </a:p>
        </p:txBody>
      </p:sp>
      <p:sp>
        <p:nvSpPr>
          <p:cNvPr id="19" name="Text 17"/>
          <p:cNvSpPr/>
          <p:nvPr/>
        </p:nvSpPr>
        <p:spPr>
          <a:xfrm>
            <a:off x="12901613" y="5372481"/>
            <a:ext cx="2416540" cy="245846"/>
          </a:xfrm>
          <a:prstGeom prst="rect">
            <a:avLst/>
          </a:prstGeom>
          <a:noFill/>
          <a:ln/>
        </p:spPr>
        <p:txBody>
          <a:bodyPr wrap="square" lIns="25400" tIns="25400" rIns="25400" bIns="25400" rtlCol="0" anchor="ctr">
            <a:normAutofit/>
          </a:bodyPr>
          <a:lstStyle/>
          <a:p>
            <a:pPr algn="l" indent="0" marL="0">
              <a:lnSpc>
                <a:spcPct val="136765"/>
              </a:lnSpc>
              <a:buNone/>
            </a:pPr>
            <a:r>
              <a:rPr lang="en-US" sz="2250" dirty="0">
                <a:solidFill>
                  <a:srgbClr val="E9E9ED"/>
                </a:solidFill>
                <a:latin typeface="Arial" pitchFamily="34" charset="0"/>
                <a:ea typeface="Arial" pitchFamily="34" charset="-122"/>
                <a:cs typeface="Arial" pitchFamily="34" charset="-120"/>
              </a:rPr>
              <a:t>False</a:t>
            </a:r>
            <a:endParaRPr lang="en-US" sz="2250" dirty="0"/>
          </a:p>
        </p:txBody>
      </p:sp>
      <p:sp>
        <p:nvSpPr>
          <p:cNvPr id="20" name="Text 18"/>
          <p:cNvSpPr/>
          <p:nvPr/>
        </p:nvSpPr>
        <p:spPr>
          <a:xfrm>
            <a:off x="1143000" y="6286732"/>
            <a:ext cx="785068" cy="245846"/>
          </a:xfrm>
          <a:prstGeom prst="rect">
            <a:avLst/>
          </a:prstGeom>
          <a:noFill/>
          <a:ln/>
        </p:spPr>
        <p:txBody>
          <a:bodyPr wrap="square" lIns="25400" tIns="25400" rIns="25400" bIns="25400" rtlCol="0" anchor="ctr">
            <a:normAutofit/>
          </a:bodyPr>
          <a:lstStyle/>
          <a:p>
            <a:pPr algn="l" indent="0" marL="0">
              <a:lnSpc>
                <a:spcPct val="136765"/>
              </a:lnSpc>
              <a:buNone/>
            </a:pPr>
            <a:r>
              <a:rPr lang="en-US" sz="2250" dirty="0">
                <a:solidFill>
                  <a:srgbClr val="E9E9ED"/>
                </a:solidFill>
                <a:latin typeface="Arial" pitchFamily="34" charset="0"/>
                <a:ea typeface="Arial" pitchFamily="34" charset="-122"/>
                <a:cs typeface="Arial" pitchFamily="34" charset="-120"/>
              </a:rPr>
              <a:t>False</a:t>
            </a:r>
            <a:endParaRPr lang="en-US" sz="2250" dirty="0"/>
          </a:p>
        </p:txBody>
      </p:sp>
      <p:sp>
        <p:nvSpPr>
          <p:cNvPr id="21" name="Text 19"/>
          <p:cNvSpPr/>
          <p:nvPr/>
        </p:nvSpPr>
        <p:spPr>
          <a:xfrm>
            <a:off x="2385268" y="6286732"/>
            <a:ext cx="2671343" cy="245846"/>
          </a:xfrm>
          <a:prstGeom prst="rect">
            <a:avLst/>
          </a:prstGeom>
          <a:noFill/>
          <a:ln/>
        </p:spPr>
        <p:txBody>
          <a:bodyPr wrap="square" lIns="25400" tIns="25400" rIns="25400" bIns="25400" rtlCol="0" anchor="ctr">
            <a:normAutofit/>
          </a:bodyPr>
          <a:lstStyle/>
          <a:p>
            <a:pPr algn="l" indent="0" marL="0">
              <a:lnSpc>
                <a:spcPct val="136765"/>
              </a:lnSpc>
              <a:buNone/>
            </a:pPr>
            <a:r>
              <a:rPr lang="en-US" sz="2250" dirty="0">
                <a:solidFill>
                  <a:srgbClr val="E9E9ED"/>
                </a:solidFill>
                <a:latin typeface="Arial" pitchFamily="34" charset="0"/>
                <a:ea typeface="Arial" pitchFamily="34" charset="-122"/>
                <a:cs typeface="Arial" pitchFamily="34" charset="-120"/>
              </a:rPr>
              <a:t>False</a:t>
            </a:r>
            <a:endParaRPr lang="en-US" sz="2250" dirty="0"/>
          </a:p>
        </p:txBody>
      </p:sp>
      <p:sp>
        <p:nvSpPr>
          <p:cNvPr id="22" name="Text 20"/>
          <p:cNvSpPr/>
          <p:nvPr/>
        </p:nvSpPr>
        <p:spPr>
          <a:xfrm>
            <a:off x="5496669" y="6286732"/>
            <a:ext cx="3467700" cy="245846"/>
          </a:xfrm>
          <a:prstGeom prst="rect">
            <a:avLst/>
          </a:prstGeom>
          <a:noFill/>
          <a:ln/>
        </p:spPr>
        <p:txBody>
          <a:bodyPr wrap="square" lIns="25400" tIns="25400" rIns="25400" bIns="25400" rtlCol="0" anchor="ctr">
            <a:normAutofit/>
          </a:bodyPr>
          <a:lstStyle/>
          <a:p>
            <a:pPr algn="l" indent="0" marL="0">
              <a:lnSpc>
                <a:spcPct val="136765"/>
              </a:lnSpc>
              <a:buNone/>
            </a:pPr>
            <a:r>
              <a:rPr lang="en-US" sz="2250" dirty="0">
                <a:solidFill>
                  <a:srgbClr val="E9E9ED"/>
                </a:solidFill>
                <a:latin typeface="Arial" pitchFamily="34" charset="0"/>
                <a:ea typeface="Arial" pitchFamily="34" charset="-122"/>
                <a:cs typeface="Arial" pitchFamily="34" charset="-120"/>
              </a:rPr>
              <a:t>False</a:t>
            </a:r>
            <a:endParaRPr lang="en-US" sz="2250" dirty="0"/>
          </a:p>
        </p:txBody>
      </p:sp>
      <p:sp>
        <p:nvSpPr>
          <p:cNvPr id="23" name="Text 21"/>
          <p:cNvSpPr/>
          <p:nvPr/>
        </p:nvSpPr>
        <p:spPr>
          <a:xfrm>
            <a:off x="9381232" y="6286732"/>
            <a:ext cx="3092592" cy="245846"/>
          </a:xfrm>
          <a:prstGeom prst="rect">
            <a:avLst/>
          </a:prstGeom>
          <a:noFill/>
          <a:ln/>
        </p:spPr>
        <p:txBody>
          <a:bodyPr wrap="square" lIns="25400" tIns="25400" rIns="25400" bIns="25400" rtlCol="0" anchor="ctr">
            <a:normAutofit/>
          </a:bodyPr>
          <a:lstStyle/>
          <a:p>
            <a:pPr algn="l" indent="0" marL="0">
              <a:lnSpc>
                <a:spcPct val="136765"/>
              </a:lnSpc>
              <a:buNone/>
            </a:pPr>
            <a:r>
              <a:rPr lang="en-US" sz="2250" dirty="0">
                <a:solidFill>
                  <a:srgbClr val="E9E9ED"/>
                </a:solidFill>
                <a:latin typeface="Arial" pitchFamily="34" charset="0"/>
                <a:ea typeface="Arial" pitchFamily="34" charset="-122"/>
                <a:cs typeface="Arial" pitchFamily="34" charset="-120"/>
              </a:rPr>
              <a:t>False</a:t>
            </a:r>
            <a:endParaRPr lang="en-US" sz="2250" dirty="0"/>
          </a:p>
        </p:txBody>
      </p:sp>
      <p:sp>
        <p:nvSpPr>
          <p:cNvPr id="24" name="Text 22"/>
          <p:cNvSpPr/>
          <p:nvPr/>
        </p:nvSpPr>
        <p:spPr>
          <a:xfrm>
            <a:off x="12901613" y="6286732"/>
            <a:ext cx="2416540" cy="245846"/>
          </a:xfrm>
          <a:prstGeom prst="rect">
            <a:avLst/>
          </a:prstGeom>
          <a:noFill/>
          <a:ln/>
        </p:spPr>
        <p:txBody>
          <a:bodyPr wrap="square" lIns="25400" tIns="25400" rIns="25400" bIns="25400" rtlCol="0" anchor="ctr">
            <a:normAutofit/>
          </a:bodyPr>
          <a:lstStyle/>
          <a:p>
            <a:pPr algn="l" indent="0" marL="0">
              <a:lnSpc>
                <a:spcPct val="136765"/>
              </a:lnSpc>
              <a:buNone/>
            </a:pPr>
            <a:r>
              <a:rPr lang="en-US" sz="2250" dirty="0">
                <a:solidFill>
                  <a:srgbClr val="E9E9ED"/>
                </a:solidFill>
                <a:latin typeface="Arial" pitchFamily="34" charset="0"/>
                <a:ea typeface="Arial" pitchFamily="34" charset="-122"/>
                <a:cs typeface="Arial" pitchFamily="34" charset="-120"/>
              </a:rPr>
              <a:t>True</a:t>
            </a:r>
            <a:endParaRPr lang="en-US" sz="2250" dirty="0"/>
          </a:p>
        </p:txBody>
      </p:sp>
      <p:pic>
        <p:nvPicPr>
          <p:cNvPr id="25" name="Image 0" descr="preencoded.png">    </p:cNvPr>
          <p:cNvPicPr>
            <a:picLocks noChangeAspect="1"/>
          </p:cNvPicPr>
          <p:nvPr/>
        </p:nvPicPr>
        <p:blipFill>
          <a:blip r:embed="rId1"/>
          <a:stretch>
            <a:fillRect/>
          </a:stretch>
        </p:blipFill>
        <p:spPr>
          <a:xfrm>
            <a:off x="13612713" y="9815810"/>
            <a:ext cx="3532287" cy="16639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182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B2741">
                  <a:alpha val="75000"/>
                </a:srgbClr>
              </a:gs>
              <a:gs pos="58000">
                <a:srgbClr val="2B2741">
                  <a:alpha val="0"/>
                </a:srgbClr>
              </a:gs>
            </a:gsLst>
            <a:path path="circle">
              <a:fillToRect l="80000" t="0" r="20000" b="100000"/>
            </a:path>
          </a:gradFill>
          <a:ln/>
        </p:spPr>
      </p:sp>
      <p:sp>
        <p:nvSpPr>
          <p:cNvPr id="3" name="Text 1"/>
          <p:cNvSpPr/>
          <p:nvPr/>
        </p:nvSpPr>
        <p:spPr>
          <a:xfrm>
            <a:off x="1143000" y="748010"/>
            <a:ext cx="5098122" cy="204490"/>
          </a:xfrm>
          <a:prstGeom prst="rect">
            <a:avLst/>
          </a:prstGeom>
          <a:noFill/>
          <a:ln/>
        </p:spPr>
        <p:txBody>
          <a:bodyPr wrap="square" lIns="25400" tIns="25400" rIns="25400" bIns="25400" rtlCol="0" anchor="t">
            <a:normAutofit/>
          </a:bodyPr>
          <a:lstStyle/>
          <a:p>
            <a:pPr algn="l" indent="0" marL="0">
              <a:lnSpc>
                <a:spcPct val="132857"/>
              </a:lnSpc>
              <a:buNone/>
            </a:pPr>
            <a:r>
              <a:rPr lang="en-US" sz="1800" spc="108" kern="0" dirty="0">
                <a:solidFill>
                  <a:srgbClr val="9184D9"/>
                </a:solidFill>
                <a:latin typeface="Arial" pitchFamily="34" charset="0"/>
                <a:ea typeface="Arial" pitchFamily="34" charset="-122"/>
                <a:cs typeface="Arial" pitchFamily="34" charset="-120"/>
              </a:rPr>
              <a:t>EJERCICIO 5 · OPERADORES LÓGICOS</a:t>
            </a:r>
            <a:endParaRPr lang="en-US" sz="1800" dirty="0"/>
          </a:p>
        </p:txBody>
      </p:sp>
      <p:sp>
        <p:nvSpPr>
          <p:cNvPr id="4" name="Text 2"/>
          <p:cNvSpPr/>
          <p:nvPr/>
        </p:nvSpPr>
        <p:spPr>
          <a:xfrm>
            <a:off x="1106537" y="1842492"/>
            <a:ext cx="17642309" cy="481608"/>
          </a:xfrm>
          <a:prstGeom prst="rect">
            <a:avLst/>
          </a:prstGeom>
          <a:noFill/>
          <a:ln/>
        </p:spPr>
        <p:txBody>
          <a:bodyPr wrap="square" lIns="25400" tIns="25400" rIns="25400" bIns="25400" rtlCol="0" anchor="t">
            <a:normAutofit/>
          </a:bodyPr>
          <a:lstStyle/>
          <a:p>
            <a:pPr algn="l" indent="0" marL="0">
              <a:lnSpc>
                <a:spcPct val="97297"/>
              </a:lnSpc>
              <a:buNone/>
            </a:pPr>
            <a:r>
              <a:rPr lang="en-US" sz="4800" spc="-72" kern="0" dirty="0">
                <a:solidFill>
                  <a:srgbClr val="E9E9ED"/>
                </a:solidFill>
                <a:latin typeface="Arial" pitchFamily="34" charset="0"/>
                <a:ea typeface="Arial" pitchFamily="34" charset="-122"/>
                <a:cs typeface="Arial" pitchFamily="34" charset="-120"/>
              </a:rPr>
              <a:t>Código y ejecución</a:t>
            </a:r>
            <a:endParaRPr lang="en-US" sz="4800" dirty="0"/>
          </a:p>
        </p:txBody>
      </p:sp>
      <p:sp>
        <p:nvSpPr>
          <p:cNvPr id="5" name="Shape 3"/>
          <p:cNvSpPr/>
          <p:nvPr/>
        </p:nvSpPr>
        <p:spPr>
          <a:xfrm>
            <a:off x="1143000" y="3487341"/>
            <a:ext cx="14097000" cy="3562499"/>
          </a:xfrm>
          <a:prstGeom prst="roundRect">
            <a:avLst>
              <a:gd name="adj" fmla="val 2139"/>
            </a:avLst>
          </a:prstGeom>
          <a:solidFill>
            <a:srgbClr val="3F424D"/>
          </a:solidFill>
          <a:ln w="9525">
            <a:solidFill>
              <a:srgbClr val="E6E6EC">
                <a:alpha val="16000"/>
              </a:srgbClr>
            </a:solidFill>
            <a:prstDash val="solid"/>
          </a:ln>
          <a:effectLst>
            <a:outerShdw sx="100000" sy="100000" kx="0" ky="0" algn="bl" rotWithShape="0" blurRad="101600" dist="50800" dir="16200000">
              <a:srgbClr val="3F424D">
                <a:alpha val="100000"/>
              </a:srgbClr>
            </a:outerShdw>
          </a:effectLst>
        </p:spPr>
      </p:sp>
      <p:sp>
        <p:nvSpPr>
          <p:cNvPr id="6" name="Text 4"/>
          <p:cNvSpPr/>
          <p:nvPr/>
        </p:nvSpPr>
        <p:spPr>
          <a:xfrm>
            <a:off x="1533525" y="3954066"/>
            <a:ext cx="13738860" cy="2667149"/>
          </a:xfrm>
          <a:prstGeom prst="rect">
            <a:avLst/>
          </a:prstGeom>
          <a:noFill/>
          <a:ln/>
        </p:spPr>
        <p:txBody>
          <a:bodyPr wrap="none" lIns="25400" tIns="25400" rIns="25400" bIns="25400" rtlCol="0" anchor="t">
            <a:normAutofit/>
          </a:bodyPr>
          <a:lstStyle/>
          <a:p>
            <a:pPr algn="l" indent="0" marL="0">
              <a:lnSpc>
                <a:spcPct val="178065"/>
              </a:lnSpc>
              <a:buNone/>
            </a:pPr>
            <a:r>
              <a:rPr lang="en-US" sz="2100" dirty="0">
                <a:solidFill>
                  <a:srgbClr val="9184D9"/>
                </a:solidFill>
                <a:latin typeface="Courier New" pitchFamily="34" charset="0"/>
                <a:ea typeface="Courier New" pitchFamily="34" charset="-122"/>
                <a:cs typeface="Courier New" pitchFamily="34" charset="-120"/>
              </a:rPr>
              <a:t>edad</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 </a:t>
            </a:r>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int</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pPr algn="l" indent="0" marL="0">
              <a:lnSpc>
                <a:spcPct val="178065"/>
              </a:lnSpc>
              <a:buNone/>
            </a:pPr>
            <a:r>
              <a:rPr lang="en-US" sz="2100" dirty="0">
                <a:solidFill>
                  <a:srgbClr val="9184D9"/>
                </a:solidFill>
                <a:latin typeface="Courier New" pitchFamily="34" charset="0"/>
                <a:ea typeface="Courier New" pitchFamily="34" charset="-122"/>
                <a:cs typeface="Courier New" pitchFamily="34" charset="-120"/>
              </a:rPr>
              <a:t>input</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"Cuantos anios tenes? "</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a:t>
            </a:r>
            <a:pPr algn="l" indent="0" marL="0">
              <a:lnSpc>
                <a:spcPct val="178065"/>
              </a:lnSpc>
              <a:buNone/>
            </a:pPr>
            <a:r>
              <a:rPr lang="en-US" sz="2100" dirty="0">
                <a:solidFill>
                  <a:srgbClr val="9184D9"/>
                </a:solidFill>
                <a:latin typeface="Courier New" pitchFamily="34" charset="0"/>
                <a:ea typeface="Courier New" pitchFamily="34" charset="-122"/>
                <a:cs typeface="Courier New" pitchFamily="34" charset="-120"/>
              </a:rPr>
              <a:t>tiene_dni</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 </a:t>
            </a:r>
            <a:pPr algn="l" indent="0" marL="0">
              <a:lnSpc>
                <a:spcPct val="178065"/>
              </a:lnSpc>
              <a:buNone/>
            </a:pPr>
            <a:r>
              <a:rPr lang="en-US" sz="2100" dirty="0">
                <a:solidFill>
                  <a:srgbClr val="9184D9"/>
                </a:solidFill>
                <a:latin typeface="Courier New" pitchFamily="34" charset="0"/>
                <a:ea typeface="Courier New" pitchFamily="34" charset="-122"/>
                <a:cs typeface="Courier New" pitchFamily="34" charset="-120"/>
              </a:rPr>
              <a:t>input</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"Tenes DNI? (si/no) "</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  </a:t>
            </a:r>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"si"if</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edad &gt;= </a:t>
            </a:r>
            <a:pPr algn="l" indent="0" marL="0">
              <a:lnSpc>
                <a:spcPct val="178065"/>
              </a:lnSpc>
              <a:buNone/>
            </a:pPr>
            <a:r>
              <a:rPr lang="en-US" sz="2100" dirty="0">
                <a:solidFill>
                  <a:srgbClr val="F3F5FE"/>
                </a:solidFill>
                <a:latin typeface="Courier New" pitchFamily="34" charset="0"/>
                <a:ea typeface="Courier New" pitchFamily="34" charset="-122"/>
                <a:cs typeface="Courier New" pitchFamily="34" charset="-120"/>
              </a:rPr>
              <a:t>16</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a:t>
            </a:r>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and </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tiene_dni:</a:t>
            </a:r>
            <a:endParaRPr lang="en-US" sz="2100" dirty="0"/>
          </a:p>
          <a:p>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a:t>
            </a:r>
            <a:endParaRPr lang="en-US" sz="2100" dirty="0"/>
          </a:p>
          <a:p>
            <a:pPr algn="l" indent="0" marL="0">
              <a:lnSpc>
                <a:spcPct val="178065"/>
              </a:lnSpc>
              <a:buNone/>
            </a:pPr>
            <a:r>
              <a:rPr lang="en-US" sz="2100" dirty="0">
                <a:solidFill>
                  <a:srgbClr val="9184D9"/>
                </a:solidFill>
                <a:latin typeface="Courier New" pitchFamily="34" charset="0"/>
                <a:ea typeface="Courier New" pitchFamily="34" charset="-122"/>
                <a:cs typeface="Courier New" pitchFamily="34" charset="-120"/>
              </a:rPr>
              <a:t>print</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"Podes votar"</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a:t>
            </a:r>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else </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endParaRPr lang="en-US" sz="2100" dirty="0"/>
          </a:p>
          <a:p>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     </a:t>
            </a:r>
            <a:endParaRPr lang="en-US" sz="2100" dirty="0"/>
          </a:p>
          <a:p>
            <a:pPr algn="l" indent="0" marL="0">
              <a:lnSpc>
                <a:spcPct val="178065"/>
              </a:lnSpc>
              <a:buNone/>
            </a:pPr>
            <a:r>
              <a:rPr lang="en-US" sz="2100" dirty="0">
                <a:solidFill>
                  <a:srgbClr val="9184D9"/>
                </a:solidFill>
                <a:latin typeface="Courier New" pitchFamily="34" charset="0"/>
                <a:ea typeface="Courier New" pitchFamily="34" charset="-122"/>
                <a:cs typeface="Courier New" pitchFamily="34" charset="-120"/>
              </a:rPr>
              <a:t>print</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pPr algn="l" indent="0" marL="0">
              <a:lnSpc>
                <a:spcPct val="178065"/>
              </a:lnSpc>
              <a:buNone/>
            </a:pPr>
            <a:r>
              <a:rPr lang="en-US" sz="2100" dirty="0">
                <a:solidFill>
                  <a:srgbClr val="D2CEFD"/>
                </a:solidFill>
                <a:latin typeface="Courier New" pitchFamily="34" charset="0"/>
                <a:ea typeface="Courier New" pitchFamily="34" charset="-122"/>
                <a:cs typeface="Courier New" pitchFamily="34" charset="-120"/>
              </a:rPr>
              <a:t>"Todavia no podes votar"</a:t>
            </a:r>
            <a:pPr algn="l" indent="0" marL="0">
              <a:lnSpc>
                <a:spcPct val="178065"/>
              </a:lnSpc>
              <a:buNone/>
            </a:pPr>
            <a:r>
              <a:rPr lang="en-US" sz="2100" dirty="0">
                <a:solidFill>
                  <a:srgbClr val="E9E9ED"/>
                </a:solidFill>
                <a:highlight>
                  <a:srgbClr val="3F424D"/>
                </a:highlight>
                <a:latin typeface="Courier New" pitchFamily="34" charset="0"/>
                <a:ea typeface="Courier New" pitchFamily="34" charset="-122"/>
                <a:cs typeface="Courier New" pitchFamily="34" charset="-120"/>
              </a:rPr>
              <a:t>)</a:t>
            </a:r>
            <a:endParaRPr lang="en-US" sz="2100" dirty="0"/>
          </a:p>
        </p:txBody>
      </p:sp>
      <p:sp>
        <p:nvSpPr>
          <p:cNvPr id="7" name="Text 5"/>
          <p:cNvSpPr/>
          <p:nvPr/>
        </p:nvSpPr>
        <p:spPr>
          <a:xfrm>
            <a:off x="1143000" y="7784009"/>
            <a:ext cx="12551628" cy="675531"/>
          </a:xfrm>
          <a:prstGeom prst="rect">
            <a:avLst/>
          </a:prstGeom>
          <a:noFill/>
          <a:ln/>
        </p:spPr>
        <p:txBody>
          <a:bodyPr wrap="square" lIns="25400" tIns="25400" rIns="25400" bIns="25400" rtlCol="0" anchor="t">
            <a:normAutofit/>
          </a:bodyPr>
          <a:lstStyle/>
          <a:p>
            <a:pPr algn="l" indent="0" marL="0">
              <a:lnSpc>
                <a:spcPct val="154839"/>
              </a:lnSpc>
              <a:buNone/>
            </a:pPr>
            <a:r>
              <a:rPr lang="en-US" sz="1950" dirty="0">
                <a:solidFill>
                  <a:srgbClr val="E9E9ED">
                    <a:alpha val="55000"/>
                  </a:srgbClr>
                </a:solidFill>
                <a:latin typeface="Arial" pitchFamily="34" charset="0"/>
                <a:ea typeface="Arial" pitchFamily="34" charset="-122"/>
                <a:cs typeface="Arial" pitchFamily="34" charset="-120"/>
              </a:rPr>
              <a:t>edad=17, dni="si" → Podes votar · edad=15, dni="si" → Todavia no podes votar · edad=17, dni="no" → Todavia no podes votar</a:t>
            </a:r>
            <a:endParaRPr lang="en-US" sz="1950" dirty="0"/>
          </a:p>
        </p:txBody>
      </p:sp>
      <p:pic>
        <p:nvPicPr>
          <p:cNvPr id="8" name="Image 0" descr="preencoded.png">    </p:cNvPr>
          <p:cNvPicPr>
            <a:picLocks noChangeAspect="1"/>
          </p:cNvPicPr>
          <p:nvPr/>
        </p:nvPicPr>
        <p:blipFill>
          <a:blip r:embed="rId1"/>
          <a:stretch>
            <a:fillRect/>
          </a:stretch>
        </p:blipFill>
        <p:spPr>
          <a:xfrm>
            <a:off x="13612713" y="9815810"/>
            <a:ext cx="3532287" cy="16639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182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B2741">
                  <a:alpha val="75000"/>
                </a:srgbClr>
              </a:gs>
              <a:gs pos="58000">
                <a:srgbClr val="2B2741">
                  <a:alpha val="0"/>
                </a:srgbClr>
              </a:gs>
            </a:gsLst>
            <a:path path="circle">
              <a:fillToRect l="80000" t="0" r="20000" b="100000"/>
            </a:path>
          </a:gradFill>
          <a:ln/>
        </p:spPr>
      </p:sp>
      <p:sp>
        <p:nvSpPr>
          <p:cNvPr id="3" name="Text 1"/>
          <p:cNvSpPr/>
          <p:nvPr/>
        </p:nvSpPr>
        <p:spPr>
          <a:xfrm>
            <a:off x="1143000" y="748010"/>
            <a:ext cx="2344668" cy="204490"/>
          </a:xfrm>
          <a:prstGeom prst="rect">
            <a:avLst/>
          </a:prstGeom>
          <a:noFill/>
          <a:ln/>
        </p:spPr>
        <p:txBody>
          <a:bodyPr wrap="square" lIns="25400" tIns="25400" rIns="25400" bIns="25400" rtlCol="0" anchor="t">
            <a:normAutofit/>
          </a:bodyPr>
          <a:lstStyle/>
          <a:p>
            <a:pPr algn="l" indent="0" marL="0">
              <a:lnSpc>
                <a:spcPct val="132857"/>
              </a:lnSpc>
              <a:buNone/>
            </a:pPr>
            <a:r>
              <a:rPr lang="en-US" sz="1800" spc="108" kern="0" dirty="0">
                <a:solidFill>
                  <a:srgbClr val="9184D9"/>
                </a:solidFill>
                <a:latin typeface="Arial" pitchFamily="34" charset="0"/>
                <a:ea typeface="Arial" pitchFamily="34" charset="-122"/>
                <a:cs typeface="Arial" pitchFamily="34" charset="-120"/>
              </a:rPr>
              <a:t>PARA PRACTICAR</a:t>
            </a:r>
            <a:endParaRPr lang="en-US" sz="1800" dirty="0"/>
          </a:p>
        </p:txBody>
      </p:sp>
      <p:sp>
        <p:nvSpPr>
          <p:cNvPr id="4" name="Text 2"/>
          <p:cNvSpPr/>
          <p:nvPr/>
        </p:nvSpPr>
        <p:spPr>
          <a:xfrm>
            <a:off x="1106537" y="1842492"/>
            <a:ext cx="17642309" cy="481608"/>
          </a:xfrm>
          <a:prstGeom prst="rect">
            <a:avLst/>
          </a:prstGeom>
          <a:noFill/>
          <a:ln/>
        </p:spPr>
        <p:txBody>
          <a:bodyPr wrap="square" lIns="25400" tIns="25400" rIns="25400" bIns="25400" rtlCol="0" anchor="t">
            <a:normAutofit/>
          </a:bodyPr>
          <a:lstStyle/>
          <a:p>
            <a:pPr algn="l" indent="0" marL="0">
              <a:lnSpc>
                <a:spcPct val="97297"/>
              </a:lnSpc>
              <a:buNone/>
            </a:pPr>
            <a:r>
              <a:rPr lang="en-US" sz="4800" spc="-72" kern="0" dirty="0">
                <a:solidFill>
                  <a:srgbClr val="E9E9ED"/>
                </a:solidFill>
                <a:latin typeface="Arial" pitchFamily="34" charset="0"/>
                <a:ea typeface="Arial" pitchFamily="34" charset="-122"/>
                <a:cs typeface="Arial" pitchFamily="34" charset="-120"/>
              </a:rPr>
              <a:t>Modificá el ejercicio 5</a:t>
            </a:r>
            <a:endParaRPr lang="en-US" sz="4800" dirty="0"/>
          </a:p>
        </p:txBody>
      </p:sp>
      <p:sp>
        <p:nvSpPr>
          <p:cNvPr id="5" name="Text 3"/>
          <p:cNvSpPr/>
          <p:nvPr/>
        </p:nvSpPr>
        <p:spPr>
          <a:xfrm>
            <a:off x="1143000" y="3421856"/>
            <a:ext cx="11576685" cy="730895"/>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Modificación: agregá una tercera variable </a:t>
            </a:r>
            <a:pPr algn="l" indent="0" marL="0">
              <a:lnSpc>
                <a:spcPct val="123077"/>
              </a:lnSpc>
              <a:buNone/>
            </a:pPr>
            <a:r>
              <a:rPr lang="en-US" sz="2550" b="1" dirty="0">
                <a:solidFill>
                  <a:srgbClr val="E9E9ED"/>
                </a:solidFill>
                <a:latin typeface="Arial" pitchFamily="34" charset="0"/>
                <a:ea typeface="Arial" pitchFamily="34" charset="-122"/>
                <a:cs typeface="Arial" pitchFamily="34" charset="-120"/>
              </a:rPr>
              <a:t>es_argentino </a:t>
            </a:r>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(si/no) y exigí que también sea "si" para poder votar.</a:t>
            </a:r>
            <a:endParaRPr lang="en-US" sz="2550" dirty="0"/>
          </a:p>
        </p:txBody>
      </p:sp>
      <p:sp>
        <p:nvSpPr>
          <p:cNvPr id="6" name="Text 4"/>
          <p:cNvSpPr/>
          <p:nvPr/>
        </p:nvSpPr>
        <p:spPr>
          <a:xfrm>
            <a:off x="1143000" y="4793307"/>
            <a:ext cx="11576685" cy="730895"/>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Pregunta: ¿qué cambia en el resultado si usás </a:t>
            </a:r>
            <a:pPr algn="l" indent="0" marL="0">
              <a:lnSpc>
                <a:spcPct val="123077"/>
              </a:lnSpc>
              <a:buNone/>
            </a:pPr>
            <a:r>
              <a:rPr lang="en-US" sz="2550" b="1" dirty="0">
                <a:solidFill>
                  <a:srgbClr val="E9E9ED"/>
                </a:solidFill>
                <a:latin typeface="Arial" pitchFamily="34" charset="0"/>
                <a:ea typeface="Arial" pitchFamily="34" charset="-122"/>
                <a:cs typeface="Arial" pitchFamily="34" charset="-120"/>
              </a:rPr>
              <a:t>or </a:t>
            </a:r>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en vez de </a:t>
            </a:r>
            <a:pPr algn="l" indent="0" marL="0">
              <a:lnSpc>
                <a:spcPct val="123077"/>
              </a:lnSpc>
              <a:buNone/>
            </a:pPr>
            <a:r>
              <a:rPr lang="en-US" sz="2550" b="1" dirty="0">
                <a:solidFill>
                  <a:srgbClr val="E9E9ED"/>
                </a:solidFill>
                <a:latin typeface="Arial" pitchFamily="34" charset="0"/>
                <a:ea typeface="Arial" pitchFamily="34" charset="-122"/>
                <a:cs typeface="Arial" pitchFamily="34" charset="-120"/>
              </a:rPr>
              <a:t>and </a:t>
            </a:r>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entre las condiciones?</a:t>
            </a:r>
            <a:endParaRPr lang="en-US" sz="2550" dirty="0"/>
          </a:p>
        </p:txBody>
      </p:sp>
      <p:pic>
        <p:nvPicPr>
          <p:cNvPr id="7" name="Image 0" descr="preencoded.png">    </p:cNvPr>
          <p:cNvPicPr>
            <a:picLocks noChangeAspect="1"/>
          </p:cNvPicPr>
          <p:nvPr/>
        </p:nvPicPr>
        <p:blipFill>
          <a:blip r:embed="rId1"/>
          <a:stretch>
            <a:fillRect/>
          </a:stretch>
        </p:blipFill>
        <p:spPr>
          <a:xfrm>
            <a:off x="13612713" y="9815810"/>
            <a:ext cx="3532287" cy="16639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182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B2741">
                  <a:alpha val="75000"/>
                </a:srgbClr>
              </a:gs>
              <a:gs pos="58000">
                <a:srgbClr val="2B2741">
                  <a:alpha val="0"/>
                </a:srgbClr>
              </a:gs>
            </a:gsLst>
            <a:path path="circle">
              <a:fillToRect l="80000" t="0" r="20000" b="100000"/>
            </a:path>
          </a:gradFill>
          <a:ln/>
        </p:spPr>
      </p:sp>
      <p:sp>
        <p:nvSpPr>
          <p:cNvPr id="3" name="Text 1"/>
          <p:cNvSpPr/>
          <p:nvPr/>
        </p:nvSpPr>
        <p:spPr>
          <a:xfrm>
            <a:off x="1143000" y="748010"/>
            <a:ext cx="2060630" cy="204490"/>
          </a:xfrm>
          <a:prstGeom prst="rect">
            <a:avLst/>
          </a:prstGeom>
          <a:noFill/>
          <a:ln/>
        </p:spPr>
        <p:txBody>
          <a:bodyPr wrap="square" lIns="25400" tIns="25400" rIns="25400" bIns="25400" rtlCol="0" anchor="t">
            <a:normAutofit/>
          </a:bodyPr>
          <a:lstStyle/>
          <a:p>
            <a:pPr algn="l" indent="0" marL="0">
              <a:lnSpc>
                <a:spcPct val="132857"/>
              </a:lnSpc>
              <a:buNone/>
            </a:pPr>
            <a:r>
              <a:rPr lang="en-US" sz="1800" spc="108" kern="0" dirty="0">
                <a:solidFill>
                  <a:srgbClr val="9184D9"/>
                </a:solidFill>
                <a:latin typeface="Arial" pitchFamily="34" charset="0"/>
                <a:ea typeface="Arial" pitchFamily="34" charset="-122"/>
                <a:cs typeface="Arial" pitchFamily="34" charset="-120"/>
              </a:rPr>
              <a:t>DESAFÍO FINAL</a:t>
            </a:r>
            <a:endParaRPr lang="en-US" sz="1800" dirty="0"/>
          </a:p>
        </p:txBody>
      </p:sp>
      <p:sp>
        <p:nvSpPr>
          <p:cNvPr id="4" name="Text 2"/>
          <p:cNvSpPr/>
          <p:nvPr/>
        </p:nvSpPr>
        <p:spPr>
          <a:xfrm>
            <a:off x="1106537" y="1842492"/>
            <a:ext cx="17642309" cy="481608"/>
          </a:xfrm>
          <a:prstGeom prst="rect">
            <a:avLst/>
          </a:prstGeom>
          <a:noFill/>
          <a:ln/>
        </p:spPr>
        <p:txBody>
          <a:bodyPr wrap="square" lIns="25400" tIns="25400" rIns="25400" bIns="25400" rtlCol="0" anchor="t">
            <a:normAutofit/>
          </a:bodyPr>
          <a:lstStyle/>
          <a:p>
            <a:pPr algn="l" indent="0" marL="0">
              <a:lnSpc>
                <a:spcPct val="97297"/>
              </a:lnSpc>
              <a:buNone/>
            </a:pPr>
            <a:r>
              <a:rPr lang="en-US" sz="4800" spc="-72" kern="0" dirty="0">
                <a:solidFill>
                  <a:srgbClr val="E9E9ED"/>
                </a:solidFill>
                <a:latin typeface="Arial" pitchFamily="34" charset="0"/>
                <a:ea typeface="Arial" pitchFamily="34" charset="-122"/>
                <a:cs typeface="Arial" pitchFamily="34" charset="-120"/>
              </a:rPr>
              <a:t>Clasificador de notas con condición extra</a:t>
            </a:r>
            <a:endParaRPr lang="en-US" sz="4800" dirty="0"/>
          </a:p>
        </p:txBody>
      </p:sp>
      <p:sp>
        <p:nvSpPr>
          <p:cNvPr id="5" name="Text 3"/>
          <p:cNvSpPr/>
          <p:nvPr/>
        </p:nvSpPr>
        <p:spPr>
          <a:xfrm>
            <a:off x="1143000" y="3421856"/>
            <a:ext cx="12363450" cy="273695"/>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1. Pedí la nota y si el estudiante entregó el trabajo práctico (si/no).</a:t>
            </a:r>
            <a:endParaRPr lang="en-US" sz="2550" dirty="0"/>
          </a:p>
        </p:txBody>
      </p:sp>
      <p:sp>
        <p:nvSpPr>
          <p:cNvPr id="6" name="Text 4"/>
          <p:cNvSpPr/>
          <p:nvPr/>
        </p:nvSpPr>
        <p:spPr>
          <a:xfrm>
            <a:off x="1143000" y="4336107"/>
            <a:ext cx="11576685" cy="730895"/>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2. Con elif, clasificá la nota en "Excelente" (&gt;=9), "Aprobado" (&gt;=6) o "Desaprobado".</a:t>
            </a:r>
            <a:endParaRPr lang="en-US" sz="2550" dirty="0"/>
          </a:p>
        </p:txBody>
      </p:sp>
      <p:sp>
        <p:nvSpPr>
          <p:cNvPr id="7" name="Text 5"/>
          <p:cNvSpPr/>
          <p:nvPr/>
        </p:nvSpPr>
        <p:spPr>
          <a:xfrm>
            <a:off x="1143000" y="5707559"/>
            <a:ext cx="11576685" cy="730895"/>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3. Usá </a:t>
            </a:r>
            <a:pPr algn="l" indent="0" marL="0">
              <a:lnSpc>
                <a:spcPct val="123077"/>
              </a:lnSpc>
              <a:buNone/>
            </a:pPr>
            <a:r>
              <a:rPr lang="en-US" sz="2550" b="1" dirty="0">
                <a:solidFill>
                  <a:srgbClr val="E9E9ED"/>
                </a:solidFill>
                <a:latin typeface="Arial" pitchFamily="34" charset="0"/>
                <a:ea typeface="Arial" pitchFamily="34" charset="-122"/>
                <a:cs typeface="Arial" pitchFamily="34" charset="-120"/>
              </a:rPr>
              <a:t>and </a:t>
            </a:r>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para que "Aprobado" solo se muestre si además entregó el trabajo práctico.</a:t>
            </a:r>
            <a:endParaRPr lang="en-US" sz="2550" dirty="0"/>
          </a:p>
        </p:txBody>
      </p:sp>
      <p:sp>
        <p:nvSpPr>
          <p:cNvPr id="8" name="Text 6"/>
          <p:cNvSpPr/>
          <p:nvPr/>
        </p:nvSpPr>
        <p:spPr>
          <a:xfrm>
            <a:off x="1143000" y="7134523"/>
            <a:ext cx="12551628" cy="675531"/>
          </a:xfrm>
          <a:prstGeom prst="rect">
            <a:avLst/>
          </a:prstGeom>
          <a:noFill/>
          <a:ln/>
        </p:spPr>
        <p:txBody>
          <a:bodyPr wrap="square" lIns="25400" tIns="25400" rIns="25400" bIns="25400" rtlCol="0" anchor="t">
            <a:normAutofit/>
          </a:bodyPr>
          <a:lstStyle/>
          <a:p>
            <a:pPr algn="l" indent="0" marL="0">
              <a:lnSpc>
                <a:spcPct val="154839"/>
              </a:lnSpc>
              <a:buNone/>
            </a:pPr>
            <a:r>
              <a:rPr lang="en-US" sz="1950" dirty="0">
                <a:solidFill>
                  <a:srgbClr val="E9E9ED">
                    <a:alpha val="55000"/>
                  </a:srgbClr>
                </a:solidFill>
                <a:latin typeface="Arial" pitchFamily="34" charset="0"/>
                <a:ea typeface="Arial" pitchFamily="34" charset="-122"/>
                <a:cs typeface="Arial" pitchFamily="34" charset="-120"/>
              </a:rPr>
              <a:t>Pistas: (1) empezá por copiar el ejercicio 4 y agregarle la nueva variable. (2) el and va dentro de la condición del elif de "Aprobado".</a:t>
            </a:r>
            <a:endParaRPr lang="en-US" sz="1950" dirty="0"/>
          </a:p>
        </p:txBody>
      </p:sp>
      <p:pic>
        <p:nvPicPr>
          <p:cNvPr id="9" name="Image 0" descr="preencoded.png">    </p:cNvPr>
          <p:cNvPicPr>
            <a:picLocks noChangeAspect="1"/>
          </p:cNvPicPr>
          <p:nvPr/>
        </p:nvPicPr>
        <p:blipFill>
          <a:blip r:embed="rId1"/>
          <a:stretch>
            <a:fillRect/>
          </a:stretch>
        </p:blipFill>
        <p:spPr>
          <a:xfrm>
            <a:off x="13612713" y="9815810"/>
            <a:ext cx="3532287" cy="16639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6182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B2741">
                  <a:alpha val="75000"/>
                </a:srgbClr>
              </a:gs>
              <a:gs pos="58000">
                <a:srgbClr val="2B2741">
                  <a:alpha val="0"/>
                </a:srgbClr>
              </a:gs>
            </a:gsLst>
            <a:path path="circle">
              <a:fillToRect l="80000" t="0" r="20000" b="100000"/>
            </a:path>
          </a:gradFill>
          <a:ln/>
        </p:spPr>
      </p:sp>
      <p:sp>
        <p:nvSpPr>
          <p:cNvPr id="3" name="Text 1"/>
          <p:cNvSpPr/>
          <p:nvPr/>
        </p:nvSpPr>
        <p:spPr>
          <a:xfrm>
            <a:off x="1143000" y="748010"/>
            <a:ext cx="1334899" cy="204490"/>
          </a:xfrm>
          <a:prstGeom prst="rect">
            <a:avLst/>
          </a:prstGeom>
          <a:noFill/>
          <a:ln/>
        </p:spPr>
        <p:txBody>
          <a:bodyPr wrap="square" lIns="25400" tIns="25400" rIns="25400" bIns="25400" rtlCol="0" anchor="t">
            <a:normAutofit/>
          </a:bodyPr>
          <a:lstStyle/>
          <a:p>
            <a:pPr algn="l" indent="0" marL="0">
              <a:lnSpc>
                <a:spcPct val="132857"/>
              </a:lnSpc>
              <a:buNone/>
            </a:pPr>
            <a:r>
              <a:rPr lang="en-US" sz="1800" spc="108" kern="0" dirty="0">
                <a:solidFill>
                  <a:srgbClr val="9184D9"/>
                </a:solidFill>
                <a:latin typeface="Arial" pitchFamily="34" charset="0"/>
                <a:ea typeface="Arial" pitchFamily="34" charset="-122"/>
                <a:cs typeface="Arial" pitchFamily="34" charset="-120"/>
              </a:rPr>
              <a:t>RESUMEN</a:t>
            </a:r>
            <a:endParaRPr lang="en-US" sz="1800" dirty="0"/>
          </a:p>
        </p:txBody>
      </p:sp>
      <p:sp>
        <p:nvSpPr>
          <p:cNvPr id="4" name="Text 2"/>
          <p:cNvSpPr/>
          <p:nvPr/>
        </p:nvSpPr>
        <p:spPr>
          <a:xfrm>
            <a:off x="1106537" y="1842492"/>
            <a:ext cx="17642309" cy="481608"/>
          </a:xfrm>
          <a:prstGeom prst="rect">
            <a:avLst/>
          </a:prstGeom>
          <a:noFill/>
          <a:ln/>
        </p:spPr>
        <p:txBody>
          <a:bodyPr wrap="square" lIns="25400" tIns="25400" rIns="25400" bIns="25400" rtlCol="0" anchor="t">
            <a:normAutofit/>
          </a:bodyPr>
          <a:lstStyle/>
          <a:p>
            <a:pPr algn="l" indent="0" marL="0">
              <a:lnSpc>
                <a:spcPct val="97297"/>
              </a:lnSpc>
              <a:buNone/>
            </a:pPr>
            <a:r>
              <a:rPr lang="en-US" sz="4800" spc="-72" kern="0" dirty="0">
                <a:solidFill>
                  <a:srgbClr val="E9E9ED"/>
                </a:solidFill>
                <a:latin typeface="Arial" pitchFamily="34" charset="0"/>
                <a:ea typeface="Arial" pitchFamily="34" charset="-122"/>
                <a:cs typeface="Arial" pitchFamily="34" charset="-120"/>
              </a:rPr>
              <a:t>Lo que te llevás de esta semana</a:t>
            </a:r>
            <a:endParaRPr lang="en-US" sz="4800" dirty="0"/>
          </a:p>
        </p:txBody>
      </p:sp>
      <p:sp>
        <p:nvSpPr>
          <p:cNvPr id="5" name="Text 3"/>
          <p:cNvSpPr/>
          <p:nvPr/>
        </p:nvSpPr>
        <p:spPr>
          <a:xfrm>
            <a:off x="1143000" y="3421856"/>
            <a:ext cx="11576685" cy="730895"/>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Un condicional (if / else) hace que el programa elija un camino según una condición.</a:t>
            </a:r>
            <a:endParaRPr lang="en-US" sz="2550" dirty="0"/>
          </a:p>
        </p:txBody>
      </p:sp>
      <p:sp>
        <p:nvSpPr>
          <p:cNvPr id="6" name="Text 4"/>
          <p:cNvSpPr/>
          <p:nvPr/>
        </p:nvSpPr>
        <p:spPr>
          <a:xfrm>
            <a:off x="1143000" y="4793307"/>
            <a:ext cx="12363450" cy="273695"/>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elif permite encadenar más de dos caminos posibles.</a:t>
            </a:r>
            <a:endParaRPr lang="en-US" sz="2550" dirty="0"/>
          </a:p>
        </p:txBody>
      </p:sp>
      <p:sp>
        <p:nvSpPr>
          <p:cNvPr id="7" name="Text 5"/>
          <p:cNvSpPr/>
          <p:nvPr/>
        </p:nvSpPr>
        <p:spPr>
          <a:xfrm>
            <a:off x="1143000" y="5707559"/>
            <a:ext cx="12363450" cy="273695"/>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Un condicional anidado es un if dentro de otro bloque.</a:t>
            </a:r>
            <a:endParaRPr lang="en-US" sz="2550" dirty="0"/>
          </a:p>
        </p:txBody>
      </p:sp>
      <p:sp>
        <p:nvSpPr>
          <p:cNvPr id="8" name="Text 6"/>
          <p:cNvSpPr/>
          <p:nvPr/>
        </p:nvSpPr>
        <p:spPr>
          <a:xfrm>
            <a:off x="1143000" y="6621810"/>
            <a:ext cx="12363450" cy="273695"/>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and, or y not combinan condiciones para tomar decisiones más precisas.</a:t>
            </a:r>
            <a:endParaRPr lang="en-US" sz="2550" dirty="0"/>
          </a:p>
        </p:txBody>
      </p:sp>
      <p:sp>
        <p:nvSpPr>
          <p:cNvPr id="9" name="Text 7"/>
          <p:cNvSpPr/>
          <p:nvPr/>
        </p:nvSpPr>
        <p:spPr>
          <a:xfrm>
            <a:off x="1143000" y="7536061"/>
            <a:ext cx="12363450" cy="273695"/>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E9E9ED"/>
                </a:solidFill>
                <a:latin typeface="Arial" pitchFamily="34" charset="0"/>
                <a:ea typeface="Arial" pitchFamily="34" charset="-122"/>
                <a:cs typeface="Arial" pitchFamily="34" charset="-120"/>
              </a:rPr>
              <a:t>La semana que viene: repetir acciones con bucles (for y while).</a:t>
            </a:r>
            <a:endParaRPr lang="en-US" sz="2550" dirty="0"/>
          </a:p>
        </p:txBody>
      </p:sp>
      <p:pic>
        <p:nvPicPr>
          <p:cNvPr id="10" name="Image 0" descr="preencoded.png">    </p:cNvPr>
          <p:cNvPicPr>
            <a:picLocks noChangeAspect="1"/>
          </p:cNvPicPr>
          <p:nvPr/>
        </p:nvPicPr>
        <p:blipFill>
          <a:blip r:embed="rId1"/>
          <a:stretch>
            <a:fillRect/>
          </a:stretch>
        </p:blipFill>
        <p:spPr>
          <a:xfrm>
            <a:off x="13612713" y="9815810"/>
            <a:ext cx="3532287" cy="16639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2026-07-26T18:38:18Z</dcterms:created>
  <dcterms:modified xsi:type="dcterms:W3CDTF">2026-07-26T18:38:18Z</dcterms:modified>
</cp:coreProperties>
</file>